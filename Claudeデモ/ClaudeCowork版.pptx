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22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Sheet1!$B$1</c:f>
              <c:strCache>
                <c:ptCount val="1"/>
                <c:pt idx="0">
                  <c:v>日経平均株価 (円)</c:v>
                </c:pt>
              </c:strCache>
            </c:strRef>
          </c:tx>
          <c:spPr>
            <a:ln w="31750" cap="flat">
              <a:solidFill>
                <a:srgbClr val="1E2761"/>
              </a:solidFill>
              <a:prstDash val="solid"/>
              <a:round/>
            </a:ln>
            <a:effectLst/>
          </c:spPr>
          <c:marker>
            <c:symbol val="circle"/>
            <c:size val="7"/>
            <c:spPr>
              <a:solidFill>
                <a:srgbClr val="1E2761"/>
              </a:solidFill>
              <a:ln w="12700" cap="flat">
                <a:solidFill>
                  <a:srgbClr val="1E2761"/>
                </a:solidFill>
                <a:prstDash val="solid"/>
                <a:round/>
              </a:ln>
              <a:effectLst/>
            </c:spPr>
          </c:marker>
          <c:cat>
            <c:strRef>
              <c:f>Sheet1!$A$2:$A$17</c:f>
              <c:strCache>
                <c:ptCount val="16"/>
                <c:pt idx="0">
                  <c:v>12/30</c:v>
                </c:pt>
                <c:pt idx="1">
                  <c:v>1/5</c:v>
                </c:pt>
                <c:pt idx="2">
                  <c:v>1/9</c:v>
                </c:pt>
                <c:pt idx="3">
                  <c:v>1/22</c:v>
                </c:pt>
                <c:pt idx="4">
                  <c:v>2/6</c:v>
                </c:pt>
                <c:pt idx="5">
                  <c:v>2/26</c:v>
                </c:pt>
                <c:pt idx="6">
                  <c:v>2/27</c:v>
                </c:pt>
                <c:pt idx="7">
                  <c:v>3/9</c:v>
                </c:pt>
                <c:pt idx="8">
                  <c:v>3/23</c:v>
                </c:pt>
                <c:pt idx="9">
                  <c:v>3/31</c:v>
                </c:pt>
                <c:pt idx="10">
                  <c:v>4/16</c:v>
                </c:pt>
                <c:pt idx="11">
                  <c:v>4/27</c:v>
                </c:pt>
                <c:pt idx="12">
                  <c:v>5/7</c:v>
                </c:pt>
                <c:pt idx="13">
                  <c:v>5/14</c:v>
                </c:pt>
                <c:pt idx="14">
                  <c:v>5/15</c:v>
                </c:pt>
                <c:pt idx="15">
                  <c:v>5/18</c:v>
                </c:pt>
              </c:strCache>
            </c:strRef>
          </c:cat>
          <c:val>
            <c:numRef>
              <c:f>Sheet1!$B$2:$B$17</c:f>
              <c:numCache>
                <c:formatCode>General</c:formatCode>
                <c:ptCount val="16"/>
                <c:pt idx="0">
                  <c:v>50339</c:v>
                </c:pt>
                <c:pt idx="1">
                  <c:v>51832</c:v>
                </c:pt>
                <c:pt idx="2">
                  <c:v>51940</c:v>
                </c:pt>
                <c:pt idx="3">
                  <c:v>53688</c:v>
                </c:pt>
                <c:pt idx="4">
                  <c:v>56000</c:v>
                </c:pt>
                <c:pt idx="5">
                  <c:v>58753</c:v>
                </c:pt>
                <c:pt idx="6">
                  <c:v>58850</c:v>
                </c:pt>
                <c:pt idx="7">
                  <c:v>53000</c:v>
                </c:pt>
                <c:pt idx="8">
                  <c:v>51515</c:v>
                </c:pt>
                <c:pt idx="9">
                  <c:v>50559</c:v>
                </c:pt>
                <c:pt idx="10">
                  <c:v>59518</c:v>
                </c:pt>
                <c:pt idx="11">
                  <c:v>60537</c:v>
                </c:pt>
                <c:pt idx="12">
                  <c:v>62833</c:v>
                </c:pt>
                <c:pt idx="13">
                  <c:v>62654</c:v>
                </c:pt>
                <c:pt idx="14">
                  <c:v>61409</c:v>
                </c:pt>
                <c:pt idx="15">
                  <c:v>60816</c:v>
                </c:pt>
              </c:numCache>
            </c:numRef>
          </c:val>
          <c:smooth val="1"/>
          <c:extLst>
            <c:ext xmlns:c16="http://schemas.microsoft.com/office/drawing/2014/chart" uri="{C3380CC4-5D6E-409C-BE32-E72D297353CC}">
              <c16:uniqueId val="{00000000-6B75-4A1E-B8F1-0550F4F13F9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65000"/>
          <c:min val="480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982165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686800" y="4114800"/>
            <a:ext cx="5029200" cy="5029200"/>
          </a:xfrm>
          <a:prstGeom prst="ellipse">
            <a:avLst/>
          </a:prstGeom>
          <a:solidFill>
            <a:srgbClr val="F96167">
              <a:alpha val="30000"/>
            </a:srgbClr>
          </a:solidFill>
          <a:ln w="12700">
            <a:solidFill>
              <a:srgbClr val="F96167"/>
            </a:solidFill>
            <a:prstDash val="solid"/>
          </a:ln>
        </p:spPr>
        <p:txBody>
          <a:bodyPr/>
          <a:lstStyle/>
          <a:p>
            <a:endParaRPr lang="ja-JP" altLang="en-US"/>
          </a:p>
        </p:txBody>
      </p:sp>
      <p:sp>
        <p:nvSpPr>
          <p:cNvPr id="3" name="Shape 1"/>
          <p:cNvSpPr/>
          <p:nvPr/>
        </p:nvSpPr>
        <p:spPr>
          <a:xfrm>
            <a:off x="9601200" y="5029200"/>
            <a:ext cx="3200400" cy="3200400"/>
          </a:xfrm>
          <a:prstGeom prst="ellipse">
            <a:avLst/>
          </a:prstGeom>
          <a:solidFill>
            <a:srgbClr val="CADCFC">
              <a:alpha val="40000"/>
            </a:srgbClr>
          </a:solidFill>
          <a:ln w="12700">
            <a:solidFill>
              <a:srgbClr val="CADCFC"/>
            </a:solidFill>
            <a:prstDash val="solid"/>
          </a:ln>
        </p:spPr>
        <p:txBody>
          <a:bodyPr/>
          <a:lstStyle/>
          <a:p>
            <a:endParaRPr lang="ja-JP" altLang="en-US"/>
          </a:p>
        </p:txBody>
      </p:sp>
      <p:sp>
        <p:nvSpPr>
          <p:cNvPr id="4" name="Text 2"/>
          <p:cNvSpPr/>
          <p:nvPr/>
        </p:nvSpPr>
        <p:spPr>
          <a:xfrm>
            <a:off x="731520" y="1371600"/>
            <a:ext cx="10058400" cy="365760"/>
          </a:xfrm>
          <a:prstGeom prst="rect">
            <a:avLst/>
          </a:prstGeom>
          <a:noFill/>
          <a:ln/>
        </p:spPr>
        <p:txBody>
          <a:bodyPr wrap="square" lIns="0" tIns="0" rIns="0" bIns="0" rtlCol="0" anchor="ctr"/>
          <a:lstStyle/>
          <a:p>
            <a:pPr marL="0" indent="0">
              <a:buNone/>
            </a:pPr>
            <a:r>
              <a:rPr lang="en-US" sz="1400" b="1" kern="0" spc="600" dirty="0">
                <a:solidFill>
                  <a:srgbClr val="F96167"/>
                </a:solidFill>
                <a:latin typeface="Calibri" pitchFamily="34" charset="0"/>
                <a:ea typeface="Calibri" pitchFamily="34" charset="-122"/>
                <a:cs typeface="Calibri" pitchFamily="34" charset="-120"/>
              </a:rPr>
              <a:t>2026 NIKKEI 225 REVIEW</a:t>
            </a:r>
            <a:endParaRPr lang="en-US" sz="1400" dirty="0"/>
          </a:p>
        </p:txBody>
      </p:sp>
      <p:sp>
        <p:nvSpPr>
          <p:cNvPr id="5" name="Text 3"/>
          <p:cNvSpPr/>
          <p:nvPr/>
        </p:nvSpPr>
        <p:spPr>
          <a:xfrm>
            <a:off x="731520" y="1828800"/>
            <a:ext cx="100584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2026年 日経平均株価の推移と</a:t>
            </a:r>
            <a:endParaRPr lang="en-US" sz="4000" dirty="0"/>
          </a:p>
        </p:txBody>
      </p:sp>
      <p:sp>
        <p:nvSpPr>
          <p:cNvPr id="6" name="Text 4"/>
          <p:cNvSpPr/>
          <p:nvPr/>
        </p:nvSpPr>
        <p:spPr>
          <a:xfrm>
            <a:off x="731520" y="2651760"/>
            <a:ext cx="10058400" cy="82296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主要ニュースの整理</a:t>
            </a:r>
            <a:endParaRPr lang="en-US" sz="4000" dirty="0"/>
          </a:p>
        </p:txBody>
      </p:sp>
      <p:sp>
        <p:nvSpPr>
          <p:cNvPr id="7" name="Shape 5"/>
          <p:cNvSpPr/>
          <p:nvPr/>
        </p:nvSpPr>
        <p:spPr>
          <a:xfrm>
            <a:off x="731520" y="3657600"/>
            <a:ext cx="1371600" cy="0"/>
          </a:xfrm>
          <a:prstGeom prst="line">
            <a:avLst/>
          </a:prstGeom>
          <a:noFill/>
          <a:ln w="25400">
            <a:solidFill>
              <a:srgbClr val="F96167"/>
            </a:solidFill>
            <a:prstDash val="solid"/>
          </a:ln>
        </p:spPr>
        <p:txBody>
          <a:bodyPr/>
          <a:lstStyle/>
          <a:p>
            <a:endParaRPr lang="ja-JP" altLang="en-US"/>
          </a:p>
        </p:txBody>
      </p:sp>
      <p:sp>
        <p:nvSpPr>
          <p:cNvPr id="8" name="Text 6"/>
          <p:cNvSpPr/>
          <p:nvPr/>
        </p:nvSpPr>
        <p:spPr>
          <a:xfrm>
            <a:off x="731520" y="3794760"/>
            <a:ext cx="8229600" cy="91440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年初来 (1月〜5月) の値動きを、月次の局面とマーケットを動かした主要イベントに分解して整理。</a:t>
            </a:r>
            <a:endParaRPr lang="en-US" sz="1400" dirty="0"/>
          </a:p>
          <a:p>
            <a:pPr marL="0" indent="0">
              <a:buNone/>
            </a:pPr>
            <a:r>
              <a:rPr lang="en-US" sz="1400" dirty="0">
                <a:solidFill>
                  <a:srgbClr val="CADCFC"/>
                </a:solidFill>
                <a:latin typeface="Calibri" pitchFamily="34" charset="0"/>
                <a:ea typeface="Calibri" pitchFamily="34" charset="-122"/>
                <a:cs typeface="Calibri" pitchFamily="34" charset="-120"/>
              </a:rPr>
              <a:t>ビジネス会議・社内共有用のサマリーとして利用ください。</a:t>
            </a:r>
            <a:endParaRPr lang="en-US" sz="1400" dirty="0"/>
          </a:p>
        </p:txBody>
      </p:sp>
      <p:sp>
        <p:nvSpPr>
          <p:cNvPr id="9" name="Text 7"/>
          <p:cNvSpPr/>
          <p:nvPr/>
        </p:nvSpPr>
        <p:spPr>
          <a:xfrm>
            <a:off x="731520" y="6035040"/>
            <a:ext cx="5486400"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作成: 2026年5月18日 (月)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エグゼクティブ・サマリー</a:t>
            </a:r>
            <a:endParaRPr lang="en-US" sz="2600" dirty="0"/>
          </a:p>
        </p:txBody>
      </p:sp>
      <p:sp>
        <p:nvSpPr>
          <p:cNvPr id="5" name="Shape 3"/>
          <p:cNvSpPr/>
          <p:nvPr/>
        </p:nvSpPr>
        <p:spPr>
          <a:xfrm>
            <a:off x="457200" y="1554480"/>
            <a:ext cx="2697480" cy="1371600"/>
          </a:xfrm>
          <a:prstGeom prst="rect">
            <a:avLst/>
          </a:prstGeom>
          <a:solidFill>
            <a:srgbClr val="F8FAFC"/>
          </a:solidFill>
          <a:ln w="6350">
            <a:solidFill>
              <a:srgbClr val="E2E8F0"/>
            </a:solidFill>
            <a:prstDash val="solid"/>
          </a:ln>
        </p:spPr>
        <p:txBody>
          <a:bodyPr/>
          <a:lstStyle/>
          <a:p>
            <a:endParaRPr lang="ja-JP" altLang="en-US"/>
          </a:p>
        </p:txBody>
      </p:sp>
      <p:sp>
        <p:nvSpPr>
          <p:cNvPr id="6" name="Shape 4"/>
          <p:cNvSpPr/>
          <p:nvPr/>
        </p:nvSpPr>
        <p:spPr>
          <a:xfrm>
            <a:off x="457200" y="1554480"/>
            <a:ext cx="2697480" cy="73152"/>
          </a:xfrm>
          <a:prstGeom prst="rect">
            <a:avLst/>
          </a:prstGeom>
          <a:solidFill>
            <a:srgbClr val="10B981"/>
          </a:solidFill>
          <a:ln w="12700">
            <a:solidFill>
              <a:srgbClr val="10B981"/>
            </a:solidFill>
            <a:prstDash val="solid"/>
          </a:ln>
        </p:spPr>
        <p:txBody>
          <a:bodyPr/>
          <a:lstStyle/>
          <a:p>
            <a:endParaRPr lang="ja-JP" altLang="en-US"/>
          </a:p>
        </p:txBody>
      </p:sp>
      <p:sp>
        <p:nvSpPr>
          <p:cNvPr id="7" name="Text 5"/>
          <p:cNvSpPr/>
          <p:nvPr/>
        </p:nvSpPr>
        <p:spPr>
          <a:xfrm>
            <a:off x="640080" y="1737360"/>
            <a:ext cx="2331720" cy="27432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年初来高値 (終値)</a:t>
            </a:r>
            <a:endParaRPr lang="en-US" sz="1000" dirty="0"/>
          </a:p>
        </p:txBody>
      </p:sp>
      <p:sp>
        <p:nvSpPr>
          <p:cNvPr id="8" name="Text 6"/>
          <p:cNvSpPr/>
          <p:nvPr/>
        </p:nvSpPr>
        <p:spPr>
          <a:xfrm>
            <a:off x="640080" y="2011680"/>
            <a:ext cx="2331720" cy="502920"/>
          </a:xfrm>
          <a:prstGeom prst="rect">
            <a:avLst/>
          </a:prstGeom>
          <a:noFill/>
          <a:ln/>
        </p:spPr>
        <p:txBody>
          <a:bodyPr wrap="square" lIns="0" tIns="0" rIns="0" bIns="0" rtlCol="0" anchor="ctr"/>
          <a:lstStyle/>
          <a:p>
            <a:pPr marL="0" indent="0">
              <a:buNone/>
            </a:pPr>
            <a:r>
              <a:rPr lang="en-US" sz="3200" b="1" dirty="0">
                <a:solidFill>
                  <a:srgbClr val="1E2761"/>
                </a:solidFill>
                <a:latin typeface="Calibri" pitchFamily="34" charset="0"/>
                <a:ea typeface="Calibri" pitchFamily="34" charset="-122"/>
                <a:cs typeface="Calibri" pitchFamily="34" charset="-120"/>
              </a:rPr>
              <a:t>62,833</a:t>
            </a:r>
            <a:r>
              <a:rPr lang="en-US" sz="1300" dirty="0">
                <a:solidFill>
                  <a:srgbClr val="475569"/>
                </a:solidFill>
                <a:latin typeface="Calibri" pitchFamily="34" charset="0"/>
                <a:ea typeface="Calibri" pitchFamily="34" charset="-122"/>
                <a:cs typeface="Calibri" pitchFamily="34" charset="-120"/>
              </a:rPr>
              <a:t> 円</a:t>
            </a:r>
            <a:endParaRPr lang="en-US" sz="3200" dirty="0"/>
          </a:p>
        </p:txBody>
      </p:sp>
      <p:sp>
        <p:nvSpPr>
          <p:cNvPr id="9" name="Text 7"/>
          <p:cNvSpPr/>
          <p:nvPr/>
        </p:nvSpPr>
        <p:spPr>
          <a:xfrm>
            <a:off x="640080" y="2514600"/>
            <a:ext cx="2331720" cy="36576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5月7日 (米イラン停戦合意観測)</a:t>
            </a:r>
            <a:endParaRPr lang="en-US" sz="900" dirty="0"/>
          </a:p>
        </p:txBody>
      </p:sp>
      <p:sp>
        <p:nvSpPr>
          <p:cNvPr id="10" name="Shape 8"/>
          <p:cNvSpPr/>
          <p:nvPr/>
        </p:nvSpPr>
        <p:spPr>
          <a:xfrm>
            <a:off x="3291840" y="1554480"/>
            <a:ext cx="2697480" cy="1371600"/>
          </a:xfrm>
          <a:prstGeom prst="rect">
            <a:avLst/>
          </a:prstGeom>
          <a:solidFill>
            <a:srgbClr val="F8FAFC"/>
          </a:solidFill>
          <a:ln w="6350">
            <a:solidFill>
              <a:srgbClr val="E2E8F0"/>
            </a:solidFill>
            <a:prstDash val="solid"/>
          </a:ln>
        </p:spPr>
        <p:txBody>
          <a:bodyPr/>
          <a:lstStyle/>
          <a:p>
            <a:endParaRPr lang="ja-JP" altLang="en-US"/>
          </a:p>
        </p:txBody>
      </p:sp>
      <p:sp>
        <p:nvSpPr>
          <p:cNvPr id="11" name="Shape 9"/>
          <p:cNvSpPr/>
          <p:nvPr/>
        </p:nvSpPr>
        <p:spPr>
          <a:xfrm>
            <a:off x="3291840" y="1554480"/>
            <a:ext cx="2697480" cy="73152"/>
          </a:xfrm>
          <a:prstGeom prst="rect">
            <a:avLst/>
          </a:prstGeom>
          <a:solidFill>
            <a:srgbClr val="F96167"/>
          </a:solidFill>
          <a:ln w="12700">
            <a:solidFill>
              <a:srgbClr val="F96167"/>
            </a:solidFill>
            <a:prstDash val="solid"/>
          </a:ln>
        </p:spPr>
        <p:txBody>
          <a:bodyPr/>
          <a:lstStyle/>
          <a:p>
            <a:endParaRPr lang="ja-JP" altLang="en-US"/>
          </a:p>
        </p:txBody>
      </p:sp>
      <p:sp>
        <p:nvSpPr>
          <p:cNvPr id="12" name="Text 10"/>
          <p:cNvSpPr/>
          <p:nvPr/>
        </p:nvSpPr>
        <p:spPr>
          <a:xfrm>
            <a:off x="3474720" y="1737360"/>
            <a:ext cx="2331720" cy="27432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年初来安値 (終値)</a:t>
            </a:r>
            <a:endParaRPr lang="en-US" sz="1000" dirty="0"/>
          </a:p>
        </p:txBody>
      </p:sp>
      <p:sp>
        <p:nvSpPr>
          <p:cNvPr id="13" name="Text 11"/>
          <p:cNvSpPr/>
          <p:nvPr/>
        </p:nvSpPr>
        <p:spPr>
          <a:xfrm>
            <a:off x="3474720" y="2011680"/>
            <a:ext cx="2331720" cy="502920"/>
          </a:xfrm>
          <a:prstGeom prst="rect">
            <a:avLst/>
          </a:prstGeom>
          <a:noFill/>
          <a:ln/>
        </p:spPr>
        <p:txBody>
          <a:bodyPr wrap="square" lIns="0" tIns="0" rIns="0" bIns="0" rtlCol="0" anchor="ctr"/>
          <a:lstStyle/>
          <a:p>
            <a:pPr marL="0" indent="0">
              <a:buNone/>
            </a:pPr>
            <a:r>
              <a:rPr lang="en-US" sz="3200" b="1" dirty="0">
                <a:solidFill>
                  <a:srgbClr val="1E2761"/>
                </a:solidFill>
                <a:latin typeface="Calibri" pitchFamily="34" charset="0"/>
                <a:ea typeface="Calibri" pitchFamily="34" charset="-122"/>
                <a:cs typeface="Calibri" pitchFamily="34" charset="-120"/>
              </a:rPr>
              <a:t>50,559</a:t>
            </a:r>
            <a:r>
              <a:rPr lang="en-US" sz="1300" dirty="0">
                <a:solidFill>
                  <a:srgbClr val="475569"/>
                </a:solidFill>
                <a:latin typeface="Calibri" pitchFamily="34" charset="0"/>
                <a:ea typeface="Calibri" pitchFamily="34" charset="-122"/>
                <a:cs typeface="Calibri" pitchFamily="34" charset="-120"/>
              </a:rPr>
              <a:t> 円</a:t>
            </a:r>
            <a:endParaRPr lang="en-US" sz="3200" dirty="0"/>
          </a:p>
        </p:txBody>
      </p:sp>
      <p:sp>
        <p:nvSpPr>
          <p:cNvPr id="14" name="Text 12"/>
          <p:cNvSpPr/>
          <p:nvPr/>
        </p:nvSpPr>
        <p:spPr>
          <a:xfrm>
            <a:off x="3474720" y="2514600"/>
            <a:ext cx="2331720" cy="36576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3月31日 (中東情勢悪化)</a:t>
            </a:r>
            <a:endParaRPr lang="en-US" sz="900" dirty="0"/>
          </a:p>
        </p:txBody>
      </p:sp>
      <p:sp>
        <p:nvSpPr>
          <p:cNvPr id="15" name="Shape 13"/>
          <p:cNvSpPr/>
          <p:nvPr/>
        </p:nvSpPr>
        <p:spPr>
          <a:xfrm>
            <a:off x="6126480" y="1554480"/>
            <a:ext cx="2697480" cy="1371600"/>
          </a:xfrm>
          <a:prstGeom prst="rect">
            <a:avLst/>
          </a:prstGeom>
          <a:solidFill>
            <a:srgbClr val="F8FAFC"/>
          </a:solidFill>
          <a:ln w="6350">
            <a:solidFill>
              <a:srgbClr val="E2E8F0"/>
            </a:solidFill>
            <a:prstDash val="solid"/>
          </a:ln>
        </p:spPr>
        <p:txBody>
          <a:bodyPr/>
          <a:lstStyle/>
          <a:p>
            <a:endParaRPr lang="ja-JP" altLang="en-US"/>
          </a:p>
        </p:txBody>
      </p:sp>
      <p:sp>
        <p:nvSpPr>
          <p:cNvPr id="16" name="Shape 14"/>
          <p:cNvSpPr/>
          <p:nvPr/>
        </p:nvSpPr>
        <p:spPr>
          <a:xfrm>
            <a:off x="6126480" y="1554480"/>
            <a:ext cx="2697480" cy="73152"/>
          </a:xfrm>
          <a:prstGeom prst="rect">
            <a:avLst/>
          </a:prstGeom>
          <a:solidFill>
            <a:srgbClr val="1E2761"/>
          </a:solidFill>
          <a:ln w="12700">
            <a:solidFill>
              <a:srgbClr val="1E2761"/>
            </a:solidFill>
            <a:prstDash val="solid"/>
          </a:ln>
        </p:spPr>
        <p:txBody>
          <a:bodyPr/>
          <a:lstStyle/>
          <a:p>
            <a:endParaRPr lang="ja-JP" altLang="en-US"/>
          </a:p>
        </p:txBody>
      </p:sp>
      <p:sp>
        <p:nvSpPr>
          <p:cNvPr id="17" name="Text 15"/>
          <p:cNvSpPr/>
          <p:nvPr/>
        </p:nvSpPr>
        <p:spPr>
          <a:xfrm>
            <a:off x="6309360" y="1737360"/>
            <a:ext cx="2331720" cy="27432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年初来パフォーマンス*</a:t>
            </a:r>
            <a:endParaRPr lang="en-US" sz="1000" dirty="0"/>
          </a:p>
        </p:txBody>
      </p:sp>
      <p:sp>
        <p:nvSpPr>
          <p:cNvPr id="18" name="Text 16"/>
          <p:cNvSpPr/>
          <p:nvPr/>
        </p:nvSpPr>
        <p:spPr>
          <a:xfrm>
            <a:off x="6309360" y="2011680"/>
            <a:ext cx="2331720" cy="502920"/>
          </a:xfrm>
          <a:prstGeom prst="rect">
            <a:avLst/>
          </a:prstGeom>
          <a:noFill/>
          <a:ln/>
        </p:spPr>
        <p:txBody>
          <a:bodyPr wrap="square" lIns="0" tIns="0" rIns="0" bIns="0" rtlCol="0" anchor="ctr"/>
          <a:lstStyle/>
          <a:p>
            <a:pPr marL="0" indent="0">
              <a:buNone/>
            </a:pPr>
            <a:r>
              <a:rPr lang="en-US" sz="3200" b="1" dirty="0">
                <a:solidFill>
                  <a:srgbClr val="1E2761"/>
                </a:solidFill>
                <a:latin typeface="Calibri" pitchFamily="34" charset="0"/>
                <a:ea typeface="Calibri" pitchFamily="34" charset="-122"/>
                <a:cs typeface="Calibri" pitchFamily="34" charset="-120"/>
              </a:rPr>
              <a:t>+20.8</a:t>
            </a:r>
            <a:r>
              <a:rPr lang="en-US" sz="1300" dirty="0">
                <a:solidFill>
                  <a:srgbClr val="475569"/>
                </a:solidFill>
                <a:latin typeface="Calibri" pitchFamily="34" charset="0"/>
                <a:ea typeface="Calibri" pitchFamily="34" charset="-122"/>
                <a:cs typeface="Calibri" pitchFamily="34" charset="-120"/>
              </a:rPr>
              <a:t> %</a:t>
            </a:r>
            <a:endParaRPr lang="en-US" sz="3200" dirty="0"/>
          </a:p>
        </p:txBody>
      </p:sp>
      <p:sp>
        <p:nvSpPr>
          <p:cNvPr id="19" name="Text 17"/>
          <p:cNvSpPr/>
          <p:nvPr/>
        </p:nvSpPr>
        <p:spPr>
          <a:xfrm>
            <a:off x="6309360" y="2514600"/>
            <a:ext cx="2331720" cy="36576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前年末50,339円比 (5/18時点)</a:t>
            </a:r>
            <a:endParaRPr lang="en-US" sz="900" dirty="0"/>
          </a:p>
        </p:txBody>
      </p:sp>
      <p:sp>
        <p:nvSpPr>
          <p:cNvPr id="20" name="Shape 18"/>
          <p:cNvSpPr/>
          <p:nvPr/>
        </p:nvSpPr>
        <p:spPr>
          <a:xfrm>
            <a:off x="8961120" y="1554480"/>
            <a:ext cx="2697480" cy="1371600"/>
          </a:xfrm>
          <a:prstGeom prst="rect">
            <a:avLst/>
          </a:prstGeom>
          <a:solidFill>
            <a:srgbClr val="F8FAFC"/>
          </a:solidFill>
          <a:ln w="6350">
            <a:solidFill>
              <a:srgbClr val="E2E8F0"/>
            </a:solidFill>
            <a:prstDash val="solid"/>
          </a:ln>
        </p:spPr>
        <p:txBody>
          <a:bodyPr/>
          <a:lstStyle/>
          <a:p>
            <a:endParaRPr lang="ja-JP" altLang="en-US"/>
          </a:p>
        </p:txBody>
      </p:sp>
      <p:sp>
        <p:nvSpPr>
          <p:cNvPr id="21" name="Shape 19"/>
          <p:cNvSpPr/>
          <p:nvPr/>
        </p:nvSpPr>
        <p:spPr>
          <a:xfrm>
            <a:off x="8961120" y="1554480"/>
            <a:ext cx="2697480" cy="73152"/>
          </a:xfrm>
          <a:prstGeom prst="rect">
            <a:avLst/>
          </a:prstGeom>
          <a:solidFill>
            <a:srgbClr val="475569"/>
          </a:solidFill>
          <a:ln w="12700">
            <a:solidFill>
              <a:srgbClr val="475569"/>
            </a:solidFill>
            <a:prstDash val="solid"/>
          </a:ln>
        </p:spPr>
        <p:txBody>
          <a:bodyPr/>
          <a:lstStyle/>
          <a:p>
            <a:endParaRPr lang="ja-JP" altLang="en-US"/>
          </a:p>
        </p:txBody>
      </p:sp>
      <p:sp>
        <p:nvSpPr>
          <p:cNvPr id="22" name="Text 20"/>
          <p:cNvSpPr/>
          <p:nvPr/>
        </p:nvSpPr>
        <p:spPr>
          <a:xfrm>
            <a:off x="9144000" y="1737360"/>
            <a:ext cx="2331720" cy="274320"/>
          </a:xfrm>
          <a:prstGeom prst="rect">
            <a:avLst/>
          </a:prstGeom>
          <a:noFill/>
          <a:ln/>
        </p:spPr>
        <p:txBody>
          <a:bodyPr wrap="square" lIns="0" tIns="0" rIns="0" bIns="0" rtlCol="0" anchor="ctr"/>
          <a:lstStyle/>
          <a:p>
            <a:pPr marL="0" indent="0">
              <a:buNone/>
            </a:pPr>
            <a:r>
              <a:rPr lang="en-US" sz="1000" b="1" dirty="0">
                <a:solidFill>
                  <a:srgbClr val="475569"/>
                </a:solidFill>
                <a:latin typeface="Calibri" pitchFamily="34" charset="0"/>
                <a:ea typeface="Calibri" pitchFamily="34" charset="-122"/>
                <a:cs typeface="Calibri" pitchFamily="34" charset="-120"/>
              </a:rPr>
              <a:t>直近終値 (5/18)</a:t>
            </a:r>
            <a:endParaRPr lang="en-US" sz="1000" dirty="0"/>
          </a:p>
        </p:txBody>
      </p:sp>
      <p:sp>
        <p:nvSpPr>
          <p:cNvPr id="23" name="Text 21"/>
          <p:cNvSpPr/>
          <p:nvPr/>
        </p:nvSpPr>
        <p:spPr>
          <a:xfrm>
            <a:off x="9144000" y="2011680"/>
            <a:ext cx="2331720" cy="502920"/>
          </a:xfrm>
          <a:prstGeom prst="rect">
            <a:avLst/>
          </a:prstGeom>
          <a:noFill/>
          <a:ln/>
        </p:spPr>
        <p:txBody>
          <a:bodyPr wrap="square" lIns="0" tIns="0" rIns="0" bIns="0" rtlCol="0" anchor="ctr"/>
          <a:lstStyle/>
          <a:p>
            <a:pPr marL="0" indent="0">
              <a:buNone/>
            </a:pPr>
            <a:r>
              <a:rPr lang="en-US" sz="3200" b="1" dirty="0">
                <a:solidFill>
                  <a:srgbClr val="1E2761"/>
                </a:solidFill>
                <a:latin typeface="Calibri" pitchFamily="34" charset="0"/>
                <a:ea typeface="Calibri" pitchFamily="34" charset="-122"/>
                <a:cs typeface="Calibri" pitchFamily="34" charset="-120"/>
              </a:rPr>
              <a:t>60,816</a:t>
            </a:r>
            <a:r>
              <a:rPr lang="en-US" sz="1300" dirty="0">
                <a:solidFill>
                  <a:srgbClr val="475569"/>
                </a:solidFill>
                <a:latin typeface="Calibri" pitchFamily="34" charset="0"/>
                <a:ea typeface="Calibri" pitchFamily="34" charset="-122"/>
                <a:cs typeface="Calibri" pitchFamily="34" charset="-120"/>
              </a:rPr>
              <a:t> 円</a:t>
            </a:r>
            <a:endParaRPr lang="en-US" sz="3200" dirty="0"/>
          </a:p>
        </p:txBody>
      </p:sp>
      <p:sp>
        <p:nvSpPr>
          <p:cNvPr id="24" name="Text 22"/>
          <p:cNvSpPr/>
          <p:nvPr/>
        </p:nvSpPr>
        <p:spPr>
          <a:xfrm>
            <a:off x="9144000" y="2514600"/>
            <a:ext cx="2331720" cy="36576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3営業日続落 / 金利上昇懸念</a:t>
            </a:r>
            <a:endParaRPr lang="en-US" sz="900" dirty="0"/>
          </a:p>
        </p:txBody>
      </p:sp>
      <p:sp>
        <p:nvSpPr>
          <p:cNvPr id="25" name="Text 23"/>
          <p:cNvSpPr/>
          <p:nvPr/>
        </p:nvSpPr>
        <p:spPr>
          <a:xfrm>
            <a:off x="457200" y="3200400"/>
            <a:ext cx="105156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年初来のストーリー</a:t>
            </a:r>
            <a:endParaRPr lang="en-US" sz="1400" dirty="0"/>
          </a:p>
        </p:txBody>
      </p:sp>
      <p:sp>
        <p:nvSpPr>
          <p:cNvPr id="26" name="Shape 24"/>
          <p:cNvSpPr/>
          <p:nvPr/>
        </p:nvSpPr>
        <p:spPr>
          <a:xfrm>
            <a:off x="457200" y="3611880"/>
            <a:ext cx="731520" cy="457200"/>
          </a:xfrm>
          <a:prstGeom prst="rect">
            <a:avLst/>
          </a:prstGeom>
          <a:solidFill>
            <a:srgbClr val="10B981"/>
          </a:solidFill>
          <a:ln w="12700">
            <a:solidFill>
              <a:srgbClr val="10B981"/>
            </a:solidFill>
            <a:prstDash val="solid"/>
          </a:ln>
        </p:spPr>
        <p:txBody>
          <a:bodyPr/>
          <a:lstStyle/>
          <a:p>
            <a:endParaRPr lang="ja-JP" altLang="en-US"/>
          </a:p>
        </p:txBody>
      </p:sp>
      <p:sp>
        <p:nvSpPr>
          <p:cNvPr id="27" name="Text 25"/>
          <p:cNvSpPr/>
          <p:nvPr/>
        </p:nvSpPr>
        <p:spPr>
          <a:xfrm>
            <a:off x="457200" y="3611880"/>
            <a:ext cx="731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1月</a:t>
            </a:r>
            <a:endParaRPr lang="en-US" sz="1400" dirty="0"/>
          </a:p>
        </p:txBody>
      </p:sp>
      <p:sp>
        <p:nvSpPr>
          <p:cNvPr id="28" name="Text 26"/>
          <p:cNvSpPr/>
          <p:nvPr/>
        </p:nvSpPr>
        <p:spPr>
          <a:xfrm>
            <a:off x="1325880" y="3630168"/>
            <a:ext cx="4572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AI・半導体・円安で好調なスタート</a:t>
            </a:r>
            <a:endParaRPr lang="en-US" sz="1300" dirty="0"/>
          </a:p>
        </p:txBody>
      </p:sp>
      <p:sp>
        <p:nvSpPr>
          <p:cNvPr id="29" name="Text 27"/>
          <p:cNvSpPr/>
          <p:nvPr/>
        </p:nvSpPr>
        <p:spPr>
          <a:xfrm>
            <a:off x="5943600" y="3657600"/>
            <a:ext cx="576072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大発会で+1,493円。半導体メモリ価格急騰と円安を背景に上昇基調。</a:t>
            </a:r>
            <a:endParaRPr lang="en-US" sz="1100" dirty="0"/>
          </a:p>
        </p:txBody>
      </p:sp>
      <p:sp>
        <p:nvSpPr>
          <p:cNvPr id="30" name="Shape 28"/>
          <p:cNvSpPr/>
          <p:nvPr/>
        </p:nvSpPr>
        <p:spPr>
          <a:xfrm>
            <a:off x="457200" y="4114800"/>
            <a:ext cx="731520" cy="457200"/>
          </a:xfrm>
          <a:prstGeom prst="rect">
            <a:avLst/>
          </a:prstGeom>
          <a:solidFill>
            <a:srgbClr val="10B981"/>
          </a:solidFill>
          <a:ln w="12700">
            <a:solidFill>
              <a:srgbClr val="10B981"/>
            </a:solidFill>
            <a:prstDash val="solid"/>
          </a:ln>
        </p:spPr>
        <p:txBody>
          <a:bodyPr/>
          <a:lstStyle/>
          <a:p>
            <a:endParaRPr lang="ja-JP" altLang="en-US"/>
          </a:p>
        </p:txBody>
      </p:sp>
      <p:sp>
        <p:nvSpPr>
          <p:cNvPr id="31" name="Text 29"/>
          <p:cNvSpPr/>
          <p:nvPr/>
        </p:nvSpPr>
        <p:spPr>
          <a:xfrm>
            <a:off x="457200" y="4114800"/>
            <a:ext cx="731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2月</a:t>
            </a:r>
            <a:endParaRPr lang="en-US" sz="1400" dirty="0"/>
          </a:p>
        </p:txBody>
      </p:sp>
      <p:sp>
        <p:nvSpPr>
          <p:cNvPr id="32" name="Text 30"/>
          <p:cNvSpPr/>
          <p:nvPr/>
        </p:nvSpPr>
        <p:spPr>
          <a:xfrm>
            <a:off x="1325880" y="4133088"/>
            <a:ext cx="4572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連日最高値更新、58,850円到達</a:t>
            </a:r>
            <a:endParaRPr lang="en-US" sz="1300" dirty="0"/>
          </a:p>
        </p:txBody>
      </p:sp>
      <p:sp>
        <p:nvSpPr>
          <p:cNvPr id="33" name="Text 31"/>
          <p:cNvSpPr/>
          <p:nvPr/>
        </p:nvSpPr>
        <p:spPr>
          <a:xfrm>
            <a:off x="5943600" y="4160520"/>
            <a:ext cx="576072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2月末まで上昇継続。世界半導体売上が前年比+86.1%と急拡大。</a:t>
            </a:r>
            <a:endParaRPr lang="en-US" sz="1100" dirty="0"/>
          </a:p>
        </p:txBody>
      </p:sp>
      <p:sp>
        <p:nvSpPr>
          <p:cNvPr id="34" name="Shape 32"/>
          <p:cNvSpPr/>
          <p:nvPr/>
        </p:nvSpPr>
        <p:spPr>
          <a:xfrm>
            <a:off x="457200" y="4617720"/>
            <a:ext cx="731520" cy="457200"/>
          </a:xfrm>
          <a:prstGeom prst="rect">
            <a:avLst/>
          </a:prstGeom>
          <a:solidFill>
            <a:srgbClr val="F96167"/>
          </a:solidFill>
          <a:ln w="12700">
            <a:solidFill>
              <a:srgbClr val="F96167"/>
            </a:solidFill>
            <a:prstDash val="solid"/>
          </a:ln>
        </p:spPr>
        <p:txBody>
          <a:bodyPr/>
          <a:lstStyle/>
          <a:p>
            <a:endParaRPr lang="ja-JP" altLang="en-US"/>
          </a:p>
        </p:txBody>
      </p:sp>
      <p:sp>
        <p:nvSpPr>
          <p:cNvPr id="35" name="Text 33"/>
          <p:cNvSpPr/>
          <p:nvPr/>
        </p:nvSpPr>
        <p:spPr>
          <a:xfrm>
            <a:off x="457200" y="4617720"/>
            <a:ext cx="731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3月</a:t>
            </a:r>
            <a:endParaRPr lang="en-US" sz="1400" dirty="0"/>
          </a:p>
        </p:txBody>
      </p:sp>
      <p:sp>
        <p:nvSpPr>
          <p:cNvPr id="36" name="Text 34"/>
          <p:cNvSpPr/>
          <p:nvPr/>
        </p:nvSpPr>
        <p:spPr>
          <a:xfrm>
            <a:off x="1325880" y="4636008"/>
            <a:ext cx="4572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中東情勢で35年ぶり最大の月間下落</a:t>
            </a:r>
            <a:endParaRPr lang="en-US" sz="1300" dirty="0"/>
          </a:p>
        </p:txBody>
      </p:sp>
      <p:sp>
        <p:nvSpPr>
          <p:cNvPr id="37" name="Text 35"/>
          <p:cNvSpPr/>
          <p:nvPr/>
        </p:nvSpPr>
        <p:spPr>
          <a:xfrm>
            <a:off x="5943600" y="4663440"/>
            <a:ext cx="576072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米・イスラエルのイラン攻撃で原油急騰。月間で-7,786円 (-13%)。</a:t>
            </a:r>
            <a:endParaRPr lang="en-US" sz="1100" dirty="0"/>
          </a:p>
        </p:txBody>
      </p:sp>
      <p:sp>
        <p:nvSpPr>
          <p:cNvPr id="38" name="Shape 36"/>
          <p:cNvSpPr/>
          <p:nvPr/>
        </p:nvSpPr>
        <p:spPr>
          <a:xfrm>
            <a:off x="457200" y="5120640"/>
            <a:ext cx="731520" cy="457200"/>
          </a:xfrm>
          <a:prstGeom prst="rect">
            <a:avLst/>
          </a:prstGeom>
          <a:solidFill>
            <a:srgbClr val="10B981"/>
          </a:solidFill>
          <a:ln w="12700">
            <a:solidFill>
              <a:srgbClr val="10B981"/>
            </a:solidFill>
            <a:prstDash val="solid"/>
          </a:ln>
        </p:spPr>
        <p:txBody>
          <a:bodyPr/>
          <a:lstStyle/>
          <a:p>
            <a:endParaRPr lang="ja-JP" altLang="en-US"/>
          </a:p>
        </p:txBody>
      </p:sp>
      <p:sp>
        <p:nvSpPr>
          <p:cNvPr id="39" name="Text 37"/>
          <p:cNvSpPr/>
          <p:nvPr/>
        </p:nvSpPr>
        <p:spPr>
          <a:xfrm>
            <a:off x="457200" y="5120640"/>
            <a:ext cx="731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4月</a:t>
            </a:r>
            <a:endParaRPr lang="en-US" sz="1400" dirty="0"/>
          </a:p>
        </p:txBody>
      </p:sp>
      <p:sp>
        <p:nvSpPr>
          <p:cNvPr id="40" name="Text 38"/>
          <p:cNvSpPr/>
          <p:nvPr/>
        </p:nvSpPr>
        <p:spPr>
          <a:xfrm>
            <a:off x="1325880" y="5138928"/>
            <a:ext cx="4572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+16.1%の力強いリバウンド、6万円台へ</a:t>
            </a:r>
            <a:endParaRPr lang="en-US" sz="1300" dirty="0"/>
          </a:p>
        </p:txBody>
      </p:sp>
      <p:sp>
        <p:nvSpPr>
          <p:cNvPr id="41" name="Text 39"/>
          <p:cNvSpPr/>
          <p:nvPr/>
        </p:nvSpPr>
        <p:spPr>
          <a:xfrm>
            <a:off x="5943600" y="5166360"/>
            <a:ext cx="576072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AI需要再評価とホルムズ海峡開放提案で急反発。4/27終値60,537円。</a:t>
            </a:r>
            <a:endParaRPr lang="en-US" sz="1100" dirty="0"/>
          </a:p>
        </p:txBody>
      </p:sp>
      <p:sp>
        <p:nvSpPr>
          <p:cNvPr id="42" name="Shape 40"/>
          <p:cNvSpPr/>
          <p:nvPr/>
        </p:nvSpPr>
        <p:spPr>
          <a:xfrm>
            <a:off x="457200" y="5623560"/>
            <a:ext cx="731520" cy="457200"/>
          </a:xfrm>
          <a:prstGeom prst="rect">
            <a:avLst/>
          </a:prstGeom>
          <a:solidFill>
            <a:srgbClr val="1E2761"/>
          </a:solidFill>
          <a:ln w="12700">
            <a:solidFill>
              <a:srgbClr val="1E2761"/>
            </a:solidFill>
            <a:prstDash val="solid"/>
          </a:ln>
        </p:spPr>
        <p:txBody>
          <a:bodyPr/>
          <a:lstStyle/>
          <a:p>
            <a:endParaRPr lang="ja-JP" altLang="en-US"/>
          </a:p>
        </p:txBody>
      </p:sp>
      <p:sp>
        <p:nvSpPr>
          <p:cNvPr id="43" name="Text 41"/>
          <p:cNvSpPr/>
          <p:nvPr/>
        </p:nvSpPr>
        <p:spPr>
          <a:xfrm>
            <a:off x="457200" y="5623560"/>
            <a:ext cx="731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5月</a:t>
            </a:r>
            <a:endParaRPr lang="en-US" sz="1400" dirty="0"/>
          </a:p>
        </p:txBody>
      </p:sp>
      <p:sp>
        <p:nvSpPr>
          <p:cNvPr id="44" name="Text 42"/>
          <p:cNvSpPr/>
          <p:nvPr/>
        </p:nvSpPr>
        <p:spPr>
          <a:xfrm>
            <a:off x="1325880" y="5641848"/>
            <a:ext cx="45720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最高値圏 → 直近は調整局面</a:t>
            </a:r>
            <a:endParaRPr lang="en-US" sz="1300" dirty="0"/>
          </a:p>
        </p:txBody>
      </p:sp>
      <p:sp>
        <p:nvSpPr>
          <p:cNvPr id="45" name="Text 43"/>
          <p:cNvSpPr/>
          <p:nvPr/>
        </p:nvSpPr>
        <p:spPr>
          <a:xfrm>
            <a:off x="5943600" y="5669280"/>
            <a:ext cx="5760720" cy="41148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5/7に62,833円。その後はBOJ利上げ観測と長期金利上昇で続落。</a:t>
            </a:r>
            <a:endParaRPr lang="en-US" sz="1100" dirty="0"/>
          </a:p>
        </p:txBody>
      </p:sp>
      <p:sp>
        <p:nvSpPr>
          <p:cNvPr id="46" name="Text 44"/>
          <p:cNvSpPr/>
          <p:nvPr/>
        </p:nvSpPr>
        <p:spPr>
          <a:xfrm>
            <a:off x="457200" y="6172200"/>
            <a:ext cx="10058400" cy="2286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 5/18終値÷2025年末終値ベースの単純騰落率</a:t>
            </a:r>
            <a:endParaRPr lang="en-US" sz="900" dirty="0"/>
          </a:p>
        </p:txBody>
      </p:sp>
      <p:sp>
        <p:nvSpPr>
          <p:cNvPr id="47" name="Shape 45"/>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48" name="Text 46"/>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49" name="Text 47"/>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PRICE CHART</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年初来 終値推移 (主要日付ベース)</a:t>
            </a:r>
            <a:endParaRPr lang="en-US" sz="2600" dirty="0"/>
          </a:p>
        </p:txBody>
      </p:sp>
      <p:graphicFrame>
        <p:nvGraphicFramePr>
          <p:cNvPr id="5" name="Chart 0"/>
          <p:cNvGraphicFramePr/>
          <p:nvPr/>
        </p:nvGraphicFramePr>
        <p:xfrm>
          <a:off x="457200" y="1508760"/>
          <a:ext cx="78638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03920" y="1508760"/>
            <a:ext cx="3200400" cy="4114800"/>
          </a:xfrm>
          <a:prstGeom prst="rect">
            <a:avLst/>
          </a:prstGeom>
          <a:solidFill>
            <a:srgbClr val="F8FAFC"/>
          </a:solidFill>
          <a:ln w="6350">
            <a:solidFill>
              <a:srgbClr val="E2E8F0"/>
            </a:solidFill>
            <a:prstDash val="solid"/>
          </a:ln>
        </p:spPr>
        <p:txBody>
          <a:bodyPr/>
          <a:lstStyle/>
          <a:p>
            <a:endParaRPr lang="ja-JP" altLang="en-US"/>
          </a:p>
        </p:txBody>
      </p:sp>
      <p:sp>
        <p:nvSpPr>
          <p:cNvPr id="7" name="Text 4"/>
          <p:cNvSpPr/>
          <p:nvPr/>
        </p:nvSpPr>
        <p:spPr>
          <a:xfrm>
            <a:off x="8686800" y="1645920"/>
            <a:ext cx="292608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主要な転換点</a:t>
            </a:r>
            <a:endParaRPr lang="en-US" sz="1300" dirty="0"/>
          </a:p>
        </p:txBody>
      </p:sp>
      <p:sp>
        <p:nvSpPr>
          <p:cNvPr id="8" name="Shape 5"/>
          <p:cNvSpPr/>
          <p:nvPr/>
        </p:nvSpPr>
        <p:spPr>
          <a:xfrm>
            <a:off x="8686800" y="2176272"/>
            <a:ext cx="164592" cy="164592"/>
          </a:xfrm>
          <a:prstGeom prst="ellipse">
            <a:avLst/>
          </a:prstGeom>
          <a:solidFill>
            <a:srgbClr val="10B981"/>
          </a:solidFill>
          <a:ln w="12700">
            <a:solidFill>
              <a:srgbClr val="10B981"/>
            </a:solidFill>
            <a:prstDash val="solid"/>
          </a:ln>
        </p:spPr>
        <p:txBody>
          <a:bodyPr/>
          <a:lstStyle/>
          <a:p>
            <a:endParaRPr lang="ja-JP" altLang="en-US"/>
          </a:p>
        </p:txBody>
      </p:sp>
      <p:sp>
        <p:nvSpPr>
          <p:cNvPr id="9" name="Text 6"/>
          <p:cNvSpPr/>
          <p:nvPr/>
        </p:nvSpPr>
        <p:spPr>
          <a:xfrm>
            <a:off x="8961120" y="2103120"/>
            <a:ext cx="27432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2/27 月末高値</a:t>
            </a:r>
            <a:endParaRPr lang="en-US" sz="1100" dirty="0"/>
          </a:p>
        </p:txBody>
      </p:sp>
      <p:sp>
        <p:nvSpPr>
          <p:cNvPr id="10" name="Text 7"/>
          <p:cNvSpPr/>
          <p:nvPr/>
        </p:nvSpPr>
        <p:spPr>
          <a:xfrm>
            <a:off x="8961120" y="2359152"/>
            <a:ext cx="2743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58,850円</a:t>
            </a:r>
            <a:endParaRPr lang="en-US" sz="1300" dirty="0"/>
          </a:p>
        </p:txBody>
      </p:sp>
      <p:sp>
        <p:nvSpPr>
          <p:cNvPr id="11" name="Shape 8"/>
          <p:cNvSpPr/>
          <p:nvPr/>
        </p:nvSpPr>
        <p:spPr>
          <a:xfrm>
            <a:off x="8686800" y="2816352"/>
            <a:ext cx="164592" cy="164592"/>
          </a:xfrm>
          <a:prstGeom prst="ellipse">
            <a:avLst/>
          </a:prstGeom>
          <a:solidFill>
            <a:srgbClr val="F96167"/>
          </a:solidFill>
          <a:ln w="12700">
            <a:solidFill>
              <a:srgbClr val="F96167"/>
            </a:solidFill>
            <a:prstDash val="solid"/>
          </a:ln>
        </p:spPr>
        <p:txBody>
          <a:bodyPr/>
          <a:lstStyle/>
          <a:p>
            <a:endParaRPr lang="ja-JP" altLang="en-US"/>
          </a:p>
        </p:txBody>
      </p:sp>
      <p:sp>
        <p:nvSpPr>
          <p:cNvPr id="12" name="Text 9"/>
          <p:cNvSpPr/>
          <p:nvPr/>
        </p:nvSpPr>
        <p:spPr>
          <a:xfrm>
            <a:off x="8961120" y="2743200"/>
            <a:ext cx="27432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3/31 年初来安値</a:t>
            </a:r>
            <a:endParaRPr lang="en-US" sz="1100" dirty="0"/>
          </a:p>
        </p:txBody>
      </p:sp>
      <p:sp>
        <p:nvSpPr>
          <p:cNvPr id="13" name="Text 10"/>
          <p:cNvSpPr/>
          <p:nvPr/>
        </p:nvSpPr>
        <p:spPr>
          <a:xfrm>
            <a:off x="8961120" y="2999232"/>
            <a:ext cx="2743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50,559円</a:t>
            </a:r>
            <a:endParaRPr lang="en-US" sz="1300" dirty="0"/>
          </a:p>
        </p:txBody>
      </p:sp>
      <p:sp>
        <p:nvSpPr>
          <p:cNvPr id="14" name="Shape 11"/>
          <p:cNvSpPr/>
          <p:nvPr/>
        </p:nvSpPr>
        <p:spPr>
          <a:xfrm>
            <a:off x="8686800" y="3456432"/>
            <a:ext cx="164592" cy="164592"/>
          </a:xfrm>
          <a:prstGeom prst="ellipse">
            <a:avLst/>
          </a:prstGeom>
          <a:solidFill>
            <a:srgbClr val="10B981"/>
          </a:solidFill>
          <a:ln w="12700">
            <a:solidFill>
              <a:srgbClr val="10B981"/>
            </a:solidFill>
            <a:prstDash val="solid"/>
          </a:ln>
        </p:spPr>
        <p:txBody>
          <a:bodyPr/>
          <a:lstStyle/>
          <a:p>
            <a:endParaRPr lang="ja-JP" altLang="en-US"/>
          </a:p>
        </p:txBody>
      </p:sp>
      <p:sp>
        <p:nvSpPr>
          <p:cNvPr id="15" name="Text 12"/>
          <p:cNvSpPr/>
          <p:nvPr/>
        </p:nvSpPr>
        <p:spPr>
          <a:xfrm>
            <a:off x="8961120" y="3383280"/>
            <a:ext cx="27432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4/27 初の6万円台</a:t>
            </a:r>
            <a:endParaRPr lang="en-US" sz="1100" dirty="0"/>
          </a:p>
        </p:txBody>
      </p:sp>
      <p:sp>
        <p:nvSpPr>
          <p:cNvPr id="16" name="Text 13"/>
          <p:cNvSpPr/>
          <p:nvPr/>
        </p:nvSpPr>
        <p:spPr>
          <a:xfrm>
            <a:off x="8961120" y="3639312"/>
            <a:ext cx="2743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60,537円</a:t>
            </a:r>
            <a:endParaRPr lang="en-US" sz="1300" dirty="0"/>
          </a:p>
        </p:txBody>
      </p:sp>
      <p:sp>
        <p:nvSpPr>
          <p:cNvPr id="17" name="Shape 14"/>
          <p:cNvSpPr/>
          <p:nvPr/>
        </p:nvSpPr>
        <p:spPr>
          <a:xfrm>
            <a:off x="8686800" y="4096512"/>
            <a:ext cx="164592" cy="164592"/>
          </a:xfrm>
          <a:prstGeom prst="ellipse">
            <a:avLst/>
          </a:prstGeom>
          <a:solidFill>
            <a:srgbClr val="1E2761"/>
          </a:solidFill>
          <a:ln w="12700">
            <a:solidFill>
              <a:srgbClr val="1E2761"/>
            </a:solidFill>
            <a:prstDash val="solid"/>
          </a:ln>
        </p:spPr>
        <p:txBody>
          <a:bodyPr/>
          <a:lstStyle/>
          <a:p>
            <a:endParaRPr lang="ja-JP" altLang="en-US"/>
          </a:p>
        </p:txBody>
      </p:sp>
      <p:sp>
        <p:nvSpPr>
          <p:cNvPr id="18" name="Text 15"/>
          <p:cNvSpPr/>
          <p:nvPr/>
        </p:nvSpPr>
        <p:spPr>
          <a:xfrm>
            <a:off x="8961120" y="4023360"/>
            <a:ext cx="27432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5/7 最高値圏</a:t>
            </a:r>
            <a:endParaRPr lang="en-US" sz="1100" dirty="0"/>
          </a:p>
        </p:txBody>
      </p:sp>
      <p:sp>
        <p:nvSpPr>
          <p:cNvPr id="19" name="Text 16"/>
          <p:cNvSpPr/>
          <p:nvPr/>
        </p:nvSpPr>
        <p:spPr>
          <a:xfrm>
            <a:off x="8961120" y="4279392"/>
            <a:ext cx="2743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62,833円</a:t>
            </a:r>
            <a:endParaRPr lang="en-US" sz="1300" dirty="0"/>
          </a:p>
        </p:txBody>
      </p:sp>
      <p:sp>
        <p:nvSpPr>
          <p:cNvPr id="20" name="Shape 17"/>
          <p:cNvSpPr/>
          <p:nvPr/>
        </p:nvSpPr>
        <p:spPr>
          <a:xfrm>
            <a:off x="8686800" y="4736592"/>
            <a:ext cx="164592" cy="164592"/>
          </a:xfrm>
          <a:prstGeom prst="ellipse">
            <a:avLst/>
          </a:prstGeom>
          <a:solidFill>
            <a:srgbClr val="475569"/>
          </a:solidFill>
          <a:ln w="12700">
            <a:solidFill>
              <a:srgbClr val="475569"/>
            </a:solidFill>
            <a:prstDash val="solid"/>
          </a:ln>
        </p:spPr>
        <p:txBody>
          <a:bodyPr/>
          <a:lstStyle/>
          <a:p>
            <a:endParaRPr lang="ja-JP" altLang="en-US"/>
          </a:p>
        </p:txBody>
      </p:sp>
      <p:sp>
        <p:nvSpPr>
          <p:cNvPr id="21" name="Text 18"/>
          <p:cNvSpPr/>
          <p:nvPr/>
        </p:nvSpPr>
        <p:spPr>
          <a:xfrm>
            <a:off x="8961120" y="4663440"/>
            <a:ext cx="2743200" cy="274320"/>
          </a:xfrm>
          <a:prstGeom prst="rect">
            <a:avLst/>
          </a:prstGeom>
          <a:noFill/>
          <a:ln/>
        </p:spPr>
        <p:txBody>
          <a:bodyPr wrap="square" lIns="0" tIns="0" rIns="0" bIns="0" rtlCol="0" anchor="ctr"/>
          <a:lstStyle/>
          <a:p>
            <a:pPr marL="0" indent="0">
              <a:buNone/>
            </a:pPr>
            <a:r>
              <a:rPr lang="en-US" sz="1100" b="1" dirty="0">
                <a:solidFill>
                  <a:srgbClr val="1F2937"/>
                </a:solidFill>
                <a:latin typeface="Calibri" pitchFamily="34" charset="0"/>
                <a:ea typeface="Calibri" pitchFamily="34" charset="-122"/>
                <a:cs typeface="Calibri" pitchFamily="34" charset="-120"/>
              </a:rPr>
              <a:t>5/18 直近終値</a:t>
            </a:r>
            <a:endParaRPr lang="en-US" sz="1100" dirty="0"/>
          </a:p>
        </p:txBody>
      </p:sp>
      <p:sp>
        <p:nvSpPr>
          <p:cNvPr id="22" name="Text 19"/>
          <p:cNvSpPr/>
          <p:nvPr/>
        </p:nvSpPr>
        <p:spPr>
          <a:xfrm>
            <a:off x="8961120" y="4919472"/>
            <a:ext cx="274320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60,816円</a:t>
            </a:r>
            <a:endParaRPr lang="en-US" sz="1300" dirty="0"/>
          </a:p>
        </p:txBody>
      </p:sp>
      <p:sp>
        <p:nvSpPr>
          <p:cNvPr id="23" name="Text 20"/>
          <p:cNvSpPr/>
          <p:nvPr/>
        </p:nvSpPr>
        <p:spPr>
          <a:xfrm>
            <a:off x="457200" y="5760720"/>
            <a:ext cx="11247120" cy="36576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注: チャートは主要報道日の終値をプロットした近似系列。連続データではないため、点間の傾きは概略です。</a:t>
            </a:r>
            <a:endParaRPr lang="en-US" sz="1000" dirty="0"/>
          </a:p>
        </p:txBody>
      </p:sp>
      <p:sp>
        <p:nvSpPr>
          <p:cNvPr id="24" name="Shape 21"/>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25" name="Text 22"/>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26" name="Text 23"/>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JANUARY 2026</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1月: 好調なスタート — AI・半導体・円安が追い風</a:t>
            </a:r>
            <a:endParaRPr lang="en-US" sz="2600" dirty="0"/>
          </a:p>
        </p:txBody>
      </p:sp>
      <p:sp>
        <p:nvSpPr>
          <p:cNvPr id="5" name="Shape 3"/>
          <p:cNvSpPr/>
          <p:nvPr/>
        </p:nvSpPr>
        <p:spPr>
          <a:xfrm>
            <a:off x="457200" y="1554480"/>
            <a:ext cx="4572000" cy="4572000"/>
          </a:xfrm>
          <a:prstGeom prst="rect">
            <a:avLst/>
          </a:prstGeom>
          <a:solidFill>
            <a:srgbClr val="F8FAFC"/>
          </a:solidFill>
          <a:ln w="6350">
            <a:solidFill>
              <a:srgbClr val="E2E8F0"/>
            </a:solidFill>
            <a:prstDash val="solid"/>
          </a:ln>
        </p:spPr>
        <p:txBody>
          <a:bodyPr/>
          <a:lstStyle/>
          <a:p>
            <a:endParaRPr lang="ja-JP" altLang="en-US"/>
          </a:p>
        </p:txBody>
      </p:sp>
      <p:sp>
        <p:nvSpPr>
          <p:cNvPr id="6" name="Shape 4"/>
          <p:cNvSpPr/>
          <p:nvPr/>
        </p:nvSpPr>
        <p:spPr>
          <a:xfrm>
            <a:off x="457200" y="1554480"/>
            <a:ext cx="73152" cy="4572000"/>
          </a:xfrm>
          <a:prstGeom prst="rect">
            <a:avLst/>
          </a:prstGeom>
          <a:solidFill>
            <a:srgbClr val="10B981"/>
          </a:solidFill>
          <a:ln w="12700">
            <a:solidFill>
              <a:srgbClr val="10B981"/>
            </a:solidFill>
            <a:prstDash val="solid"/>
          </a:ln>
        </p:spPr>
        <p:txBody>
          <a:bodyPr/>
          <a:lstStyle/>
          <a:p>
            <a:endParaRPr lang="ja-JP" altLang="en-US"/>
          </a:p>
        </p:txBody>
      </p:sp>
      <p:sp>
        <p:nvSpPr>
          <p:cNvPr id="7" name="Text 5"/>
          <p:cNvSpPr/>
          <p:nvPr/>
        </p:nvSpPr>
        <p:spPr>
          <a:xfrm>
            <a:off x="685800" y="1691640"/>
            <a:ext cx="4114800" cy="27432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概況</a:t>
            </a:r>
            <a:endParaRPr lang="en-US" sz="1100" dirty="0"/>
          </a:p>
        </p:txBody>
      </p:sp>
      <p:sp>
        <p:nvSpPr>
          <p:cNvPr id="8" name="Text 6"/>
          <p:cNvSpPr/>
          <p:nvPr/>
        </p:nvSpPr>
        <p:spPr>
          <a:xfrm>
            <a:off x="685800" y="1965960"/>
            <a:ext cx="4206240" cy="64008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大発会で+1,493円。AI関連と防衛関連が牽引し上昇基調を維持。</a:t>
            </a:r>
            <a:endParaRPr lang="en-US" sz="1700" dirty="0"/>
          </a:p>
        </p:txBody>
      </p:sp>
      <p:sp>
        <p:nvSpPr>
          <p:cNvPr id="9" name="Shape 7"/>
          <p:cNvSpPr/>
          <p:nvPr/>
        </p:nvSpPr>
        <p:spPr>
          <a:xfrm>
            <a:off x="685800" y="2788920"/>
            <a:ext cx="4114800" cy="0"/>
          </a:xfrm>
          <a:prstGeom prst="line">
            <a:avLst/>
          </a:prstGeom>
          <a:noFill/>
          <a:ln w="9525">
            <a:solidFill>
              <a:srgbClr val="E2E8F0"/>
            </a:solidFill>
            <a:prstDash val="solid"/>
          </a:ln>
        </p:spPr>
        <p:txBody>
          <a:bodyPr/>
          <a:lstStyle/>
          <a:p>
            <a:endParaRPr lang="ja-JP" altLang="en-US"/>
          </a:p>
        </p:txBody>
      </p:sp>
      <p:sp>
        <p:nvSpPr>
          <p:cNvPr id="10" name="Text 8"/>
          <p:cNvSpPr/>
          <p:nvPr/>
        </p:nvSpPr>
        <p:spPr>
          <a:xfrm>
            <a:off x="685800" y="292608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前年末終値</a:t>
            </a:r>
            <a:endParaRPr lang="en-US" sz="1100" dirty="0"/>
          </a:p>
        </p:txBody>
      </p:sp>
      <p:sp>
        <p:nvSpPr>
          <p:cNvPr id="11" name="Text 9"/>
          <p:cNvSpPr/>
          <p:nvPr/>
        </p:nvSpPr>
        <p:spPr>
          <a:xfrm>
            <a:off x="3063240" y="2926080"/>
            <a:ext cx="1783080" cy="36576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50,339円</a:t>
            </a:r>
            <a:endParaRPr lang="en-US" sz="1600" dirty="0"/>
          </a:p>
        </p:txBody>
      </p:sp>
      <p:sp>
        <p:nvSpPr>
          <p:cNvPr id="12" name="Text 10"/>
          <p:cNvSpPr/>
          <p:nvPr/>
        </p:nvSpPr>
        <p:spPr>
          <a:xfrm>
            <a:off x="685800" y="342900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1月の中盤 (1/22) 終値</a:t>
            </a:r>
            <a:endParaRPr lang="en-US" sz="1100" dirty="0"/>
          </a:p>
        </p:txBody>
      </p:sp>
      <p:sp>
        <p:nvSpPr>
          <p:cNvPr id="13" name="Text 11"/>
          <p:cNvSpPr/>
          <p:nvPr/>
        </p:nvSpPr>
        <p:spPr>
          <a:xfrm>
            <a:off x="3063240" y="3429000"/>
            <a:ext cx="1783080" cy="365760"/>
          </a:xfrm>
          <a:prstGeom prst="rect">
            <a:avLst/>
          </a:prstGeom>
          <a:noFill/>
          <a:ln/>
        </p:spPr>
        <p:txBody>
          <a:bodyPr wrap="square" lIns="0" tIns="0" rIns="0" bIns="0" rtlCol="0" anchor="ctr"/>
          <a:lstStyle/>
          <a:p>
            <a:pPr marL="0" indent="0" algn="r">
              <a:buNone/>
            </a:pPr>
            <a:r>
              <a:rPr lang="en-US" sz="1600" b="1" dirty="0">
                <a:solidFill>
                  <a:srgbClr val="10B981"/>
                </a:solidFill>
                <a:latin typeface="Calibri" pitchFamily="34" charset="0"/>
                <a:ea typeface="Calibri" pitchFamily="34" charset="-122"/>
                <a:cs typeface="Calibri" pitchFamily="34" charset="-120"/>
              </a:rPr>
              <a:t>53,688円</a:t>
            </a:r>
            <a:endParaRPr lang="en-US" sz="1600" dirty="0"/>
          </a:p>
        </p:txBody>
      </p:sp>
      <p:sp>
        <p:nvSpPr>
          <p:cNvPr id="14" name="Text 12"/>
          <p:cNvSpPr/>
          <p:nvPr/>
        </p:nvSpPr>
        <p:spPr>
          <a:xfrm>
            <a:off x="685800" y="393192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月中の主役</a:t>
            </a:r>
            <a:endParaRPr lang="en-US" sz="1100" dirty="0"/>
          </a:p>
        </p:txBody>
      </p:sp>
      <p:sp>
        <p:nvSpPr>
          <p:cNvPr id="15" name="Text 13"/>
          <p:cNvSpPr/>
          <p:nvPr/>
        </p:nvSpPr>
        <p:spPr>
          <a:xfrm>
            <a:off x="3063240" y="3931920"/>
            <a:ext cx="1783080" cy="36576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AI/半導体・防衛</a:t>
            </a:r>
            <a:endParaRPr lang="en-US" sz="1600" dirty="0"/>
          </a:p>
        </p:txBody>
      </p:sp>
      <p:sp>
        <p:nvSpPr>
          <p:cNvPr id="16" name="Text 14"/>
          <p:cNvSpPr/>
          <p:nvPr/>
        </p:nvSpPr>
        <p:spPr>
          <a:xfrm>
            <a:off x="685800" y="5074920"/>
            <a:ext cx="4114800" cy="27432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ポイント</a:t>
            </a:r>
            <a:endParaRPr lang="en-US" sz="1100" dirty="0"/>
          </a:p>
        </p:txBody>
      </p:sp>
      <p:sp>
        <p:nvSpPr>
          <p:cNvPr id="17" name="Text 15"/>
          <p:cNvSpPr/>
          <p:nvPr/>
        </p:nvSpPr>
        <p:spPr>
          <a:xfrm>
            <a:off x="685800" y="5349240"/>
            <a:ext cx="4206240" cy="73152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米半導体株高と円安が支援材料となり、年明けからリスクオン継続。重工・防衛関連が地政学リスクの高まりを反映して上位に。</a:t>
            </a:r>
            <a:endParaRPr lang="en-US" sz="1100" dirty="0"/>
          </a:p>
        </p:txBody>
      </p:sp>
      <p:sp>
        <p:nvSpPr>
          <p:cNvPr id="18" name="Text 16"/>
          <p:cNvSpPr/>
          <p:nvPr/>
        </p:nvSpPr>
        <p:spPr>
          <a:xfrm>
            <a:off x="5303520" y="155448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主要ニュース</a:t>
            </a:r>
            <a:endParaRPr lang="en-US" sz="1400" dirty="0"/>
          </a:p>
        </p:txBody>
      </p:sp>
      <p:sp>
        <p:nvSpPr>
          <p:cNvPr id="19" name="Shape 17"/>
          <p:cNvSpPr/>
          <p:nvPr/>
        </p:nvSpPr>
        <p:spPr>
          <a:xfrm>
            <a:off x="5303520" y="196596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20" name="Text 18"/>
          <p:cNvSpPr/>
          <p:nvPr/>
        </p:nvSpPr>
        <p:spPr>
          <a:xfrm>
            <a:off x="5303520" y="196596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21" name="Text 19"/>
          <p:cNvSpPr/>
          <p:nvPr/>
        </p:nvSpPr>
        <p:spPr>
          <a:xfrm>
            <a:off x="6400800" y="193852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大発会で日経平均+1,493円、51,832円で取引終了</a:t>
            </a:r>
            <a:endParaRPr lang="en-US" sz="1200" dirty="0"/>
          </a:p>
        </p:txBody>
      </p:sp>
      <p:sp>
        <p:nvSpPr>
          <p:cNvPr id="22" name="Text 20"/>
          <p:cNvSpPr/>
          <p:nvPr/>
        </p:nvSpPr>
        <p:spPr>
          <a:xfrm>
            <a:off x="6400800" y="224942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ベネズエラ攻撃の影響限定的、AI活況継続を素直に映す動き。</a:t>
            </a:r>
            <a:endParaRPr lang="en-US" sz="1000" dirty="0"/>
          </a:p>
        </p:txBody>
      </p:sp>
      <p:sp>
        <p:nvSpPr>
          <p:cNvPr id="23" name="Shape 21"/>
          <p:cNvSpPr/>
          <p:nvPr/>
        </p:nvSpPr>
        <p:spPr>
          <a:xfrm>
            <a:off x="5303520" y="2953512"/>
            <a:ext cx="6400800" cy="0"/>
          </a:xfrm>
          <a:prstGeom prst="line">
            <a:avLst/>
          </a:prstGeom>
          <a:noFill/>
          <a:ln w="6350">
            <a:solidFill>
              <a:srgbClr val="E2E8F0"/>
            </a:solidFill>
            <a:prstDash val="solid"/>
          </a:ln>
        </p:spPr>
        <p:txBody>
          <a:bodyPr/>
          <a:lstStyle/>
          <a:p>
            <a:endParaRPr lang="ja-JP" altLang="en-US"/>
          </a:p>
        </p:txBody>
      </p:sp>
      <p:sp>
        <p:nvSpPr>
          <p:cNvPr id="24" name="Shape 22"/>
          <p:cNvSpPr/>
          <p:nvPr/>
        </p:nvSpPr>
        <p:spPr>
          <a:xfrm>
            <a:off x="5303520" y="301752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25" name="Text 23"/>
          <p:cNvSpPr/>
          <p:nvPr/>
        </p:nvSpPr>
        <p:spPr>
          <a:xfrm>
            <a:off x="5303520" y="301752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1/6</a:t>
            </a:r>
            <a:endParaRPr lang="en-US" sz="1100" dirty="0"/>
          </a:p>
        </p:txBody>
      </p:sp>
      <p:sp>
        <p:nvSpPr>
          <p:cNvPr id="26" name="Text 24"/>
          <p:cNvSpPr/>
          <p:nvPr/>
        </p:nvSpPr>
        <p:spPr>
          <a:xfrm>
            <a:off x="6400800" y="299008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翌営業日に52,518円、二か月ぶり高値</a:t>
            </a:r>
            <a:endParaRPr lang="en-US" sz="1200" dirty="0"/>
          </a:p>
        </p:txBody>
      </p:sp>
      <p:sp>
        <p:nvSpPr>
          <p:cNvPr id="27" name="Text 25"/>
          <p:cNvSpPr/>
          <p:nvPr/>
        </p:nvSpPr>
        <p:spPr>
          <a:xfrm>
            <a:off x="6400800" y="330098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日立急騰など主力銘柄が牽引。</a:t>
            </a:r>
            <a:endParaRPr lang="en-US" sz="1000" dirty="0"/>
          </a:p>
        </p:txBody>
      </p:sp>
      <p:sp>
        <p:nvSpPr>
          <p:cNvPr id="28" name="Shape 26"/>
          <p:cNvSpPr/>
          <p:nvPr/>
        </p:nvSpPr>
        <p:spPr>
          <a:xfrm>
            <a:off x="5303520" y="4005072"/>
            <a:ext cx="6400800" cy="0"/>
          </a:xfrm>
          <a:prstGeom prst="line">
            <a:avLst/>
          </a:prstGeom>
          <a:noFill/>
          <a:ln w="6350">
            <a:solidFill>
              <a:srgbClr val="E2E8F0"/>
            </a:solidFill>
            <a:prstDash val="solid"/>
          </a:ln>
        </p:spPr>
        <p:txBody>
          <a:bodyPr/>
          <a:lstStyle/>
          <a:p>
            <a:endParaRPr lang="ja-JP" altLang="en-US"/>
          </a:p>
        </p:txBody>
      </p:sp>
      <p:sp>
        <p:nvSpPr>
          <p:cNvPr id="29" name="Shape 27"/>
          <p:cNvSpPr/>
          <p:nvPr/>
        </p:nvSpPr>
        <p:spPr>
          <a:xfrm>
            <a:off x="5303520" y="406908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30" name="Text 28"/>
          <p:cNvSpPr/>
          <p:nvPr/>
        </p:nvSpPr>
        <p:spPr>
          <a:xfrm>
            <a:off x="5303520" y="406908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1/13</a:t>
            </a:r>
            <a:endParaRPr lang="en-US" sz="1100" dirty="0"/>
          </a:p>
        </p:txBody>
      </p:sp>
      <p:sp>
        <p:nvSpPr>
          <p:cNvPr id="31" name="Text 29"/>
          <p:cNvSpPr/>
          <p:nvPr/>
        </p:nvSpPr>
        <p:spPr>
          <a:xfrm>
            <a:off x="6400800" y="404164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円相場、対ドルで約1.5年ぶり安値水準まで下落</a:t>
            </a:r>
            <a:endParaRPr lang="en-US" sz="1200" dirty="0"/>
          </a:p>
        </p:txBody>
      </p:sp>
      <p:sp>
        <p:nvSpPr>
          <p:cNvPr id="32" name="Text 30"/>
          <p:cNvSpPr/>
          <p:nvPr/>
        </p:nvSpPr>
        <p:spPr>
          <a:xfrm>
            <a:off x="6400800" y="435254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輸出企業の収益改善期待が一段と強まる。</a:t>
            </a:r>
            <a:endParaRPr lang="en-US" sz="1000" dirty="0"/>
          </a:p>
        </p:txBody>
      </p:sp>
      <p:sp>
        <p:nvSpPr>
          <p:cNvPr id="33" name="Shape 31"/>
          <p:cNvSpPr/>
          <p:nvPr/>
        </p:nvSpPr>
        <p:spPr>
          <a:xfrm>
            <a:off x="5303520" y="5056632"/>
            <a:ext cx="6400800" cy="0"/>
          </a:xfrm>
          <a:prstGeom prst="line">
            <a:avLst/>
          </a:prstGeom>
          <a:noFill/>
          <a:ln w="6350">
            <a:solidFill>
              <a:srgbClr val="E2E8F0"/>
            </a:solidFill>
            <a:prstDash val="solid"/>
          </a:ln>
        </p:spPr>
        <p:txBody>
          <a:bodyPr/>
          <a:lstStyle/>
          <a:p>
            <a:endParaRPr lang="ja-JP" altLang="en-US"/>
          </a:p>
        </p:txBody>
      </p:sp>
      <p:sp>
        <p:nvSpPr>
          <p:cNvPr id="34" name="Shape 32"/>
          <p:cNvSpPr/>
          <p:nvPr/>
        </p:nvSpPr>
        <p:spPr>
          <a:xfrm>
            <a:off x="5303520" y="512064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35" name="Text 33"/>
          <p:cNvSpPr/>
          <p:nvPr/>
        </p:nvSpPr>
        <p:spPr>
          <a:xfrm>
            <a:off x="5303520" y="512064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1/22</a:t>
            </a:r>
            <a:endParaRPr lang="en-US" sz="1100" dirty="0"/>
          </a:p>
        </p:txBody>
      </p:sp>
      <p:sp>
        <p:nvSpPr>
          <p:cNvPr id="36" name="Text 34"/>
          <p:cNvSpPr/>
          <p:nvPr/>
        </p:nvSpPr>
        <p:spPr>
          <a:xfrm>
            <a:off x="6400800" y="509320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日経平均+914円、終値53,688円で6日ぶり反発</a:t>
            </a:r>
            <a:endParaRPr lang="en-US" sz="1200" dirty="0"/>
          </a:p>
        </p:txBody>
      </p:sp>
      <p:sp>
        <p:nvSpPr>
          <p:cNvPr id="37" name="Text 35"/>
          <p:cNvSpPr/>
          <p:nvPr/>
        </p:nvSpPr>
        <p:spPr>
          <a:xfrm>
            <a:off x="6400800" y="540410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半導体メモリ価格の上昇報道と海外マネー流入が支え。</a:t>
            </a:r>
            <a:endParaRPr lang="en-US" sz="1000" dirty="0"/>
          </a:p>
        </p:txBody>
      </p:sp>
      <p:sp>
        <p:nvSpPr>
          <p:cNvPr id="38" name="Shape 36"/>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40" name="Text 38"/>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FEBRUARY 2026</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2月: 連日最高値更新 — 半導体市況の急回復</a:t>
            </a:r>
            <a:endParaRPr lang="en-US" sz="2600" dirty="0"/>
          </a:p>
        </p:txBody>
      </p:sp>
      <p:sp>
        <p:nvSpPr>
          <p:cNvPr id="5" name="Shape 3"/>
          <p:cNvSpPr/>
          <p:nvPr/>
        </p:nvSpPr>
        <p:spPr>
          <a:xfrm>
            <a:off x="457200" y="1554480"/>
            <a:ext cx="4572000" cy="4572000"/>
          </a:xfrm>
          <a:prstGeom prst="rect">
            <a:avLst/>
          </a:prstGeom>
          <a:solidFill>
            <a:srgbClr val="F8FAFC"/>
          </a:solidFill>
          <a:ln w="6350">
            <a:solidFill>
              <a:srgbClr val="E2E8F0"/>
            </a:solidFill>
            <a:prstDash val="solid"/>
          </a:ln>
        </p:spPr>
        <p:txBody>
          <a:bodyPr/>
          <a:lstStyle/>
          <a:p>
            <a:endParaRPr lang="ja-JP" altLang="en-US"/>
          </a:p>
        </p:txBody>
      </p:sp>
      <p:sp>
        <p:nvSpPr>
          <p:cNvPr id="6" name="Shape 4"/>
          <p:cNvSpPr/>
          <p:nvPr/>
        </p:nvSpPr>
        <p:spPr>
          <a:xfrm>
            <a:off x="457200" y="1554480"/>
            <a:ext cx="73152" cy="4572000"/>
          </a:xfrm>
          <a:prstGeom prst="rect">
            <a:avLst/>
          </a:prstGeom>
          <a:solidFill>
            <a:srgbClr val="10B981"/>
          </a:solidFill>
          <a:ln w="12700">
            <a:solidFill>
              <a:srgbClr val="10B981"/>
            </a:solidFill>
            <a:prstDash val="solid"/>
          </a:ln>
        </p:spPr>
        <p:txBody>
          <a:bodyPr/>
          <a:lstStyle/>
          <a:p>
            <a:endParaRPr lang="ja-JP" altLang="en-US"/>
          </a:p>
        </p:txBody>
      </p:sp>
      <p:sp>
        <p:nvSpPr>
          <p:cNvPr id="7" name="Text 5"/>
          <p:cNvSpPr/>
          <p:nvPr/>
        </p:nvSpPr>
        <p:spPr>
          <a:xfrm>
            <a:off x="685800" y="1691640"/>
            <a:ext cx="4114800" cy="27432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概況</a:t>
            </a:r>
            <a:endParaRPr lang="en-US" sz="1100" dirty="0"/>
          </a:p>
        </p:txBody>
      </p:sp>
      <p:sp>
        <p:nvSpPr>
          <p:cNvPr id="8" name="Text 6"/>
          <p:cNvSpPr/>
          <p:nvPr/>
        </p:nvSpPr>
        <p:spPr>
          <a:xfrm>
            <a:off x="685800" y="1965960"/>
            <a:ext cx="4206240" cy="64008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メモリ価格が2025年末から半年で約4倍へ。世界半導体売上が前年比+86.1%。</a:t>
            </a:r>
            <a:endParaRPr lang="en-US" sz="1700" dirty="0"/>
          </a:p>
        </p:txBody>
      </p:sp>
      <p:sp>
        <p:nvSpPr>
          <p:cNvPr id="9" name="Shape 7"/>
          <p:cNvSpPr/>
          <p:nvPr/>
        </p:nvSpPr>
        <p:spPr>
          <a:xfrm>
            <a:off x="685800" y="2788920"/>
            <a:ext cx="4114800" cy="0"/>
          </a:xfrm>
          <a:prstGeom prst="line">
            <a:avLst/>
          </a:prstGeom>
          <a:noFill/>
          <a:ln w="9525">
            <a:solidFill>
              <a:srgbClr val="E2E8F0"/>
            </a:solidFill>
            <a:prstDash val="solid"/>
          </a:ln>
        </p:spPr>
        <p:txBody>
          <a:bodyPr/>
          <a:lstStyle/>
          <a:p>
            <a:endParaRPr lang="ja-JP" altLang="en-US"/>
          </a:p>
        </p:txBody>
      </p:sp>
      <p:sp>
        <p:nvSpPr>
          <p:cNvPr id="10" name="Text 8"/>
          <p:cNvSpPr/>
          <p:nvPr/>
        </p:nvSpPr>
        <p:spPr>
          <a:xfrm>
            <a:off x="685800" y="292608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2月末水準 (2/27)</a:t>
            </a:r>
            <a:endParaRPr lang="en-US" sz="1100" dirty="0"/>
          </a:p>
        </p:txBody>
      </p:sp>
      <p:sp>
        <p:nvSpPr>
          <p:cNvPr id="11" name="Text 9"/>
          <p:cNvSpPr/>
          <p:nvPr/>
        </p:nvSpPr>
        <p:spPr>
          <a:xfrm>
            <a:off x="3063240" y="2926080"/>
            <a:ext cx="1783080" cy="365760"/>
          </a:xfrm>
          <a:prstGeom prst="rect">
            <a:avLst/>
          </a:prstGeom>
          <a:noFill/>
          <a:ln/>
        </p:spPr>
        <p:txBody>
          <a:bodyPr wrap="square" lIns="0" tIns="0" rIns="0" bIns="0" rtlCol="0" anchor="ctr"/>
          <a:lstStyle/>
          <a:p>
            <a:pPr marL="0" indent="0" algn="r">
              <a:buNone/>
            </a:pPr>
            <a:r>
              <a:rPr lang="en-US" sz="1600" b="1" dirty="0">
                <a:solidFill>
                  <a:srgbClr val="10B981"/>
                </a:solidFill>
                <a:latin typeface="Calibri" pitchFamily="34" charset="0"/>
                <a:ea typeface="Calibri" pitchFamily="34" charset="-122"/>
                <a:cs typeface="Calibri" pitchFamily="34" charset="-120"/>
              </a:rPr>
              <a:t>58,850円</a:t>
            </a:r>
            <a:endParaRPr lang="en-US" sz="1600" dirty="0"/>
          </a:p>
        </p:txBody>
      </p:sp>
      <p:sp>
        <p:nvSpPr>
          <p:cNvPr id="12" name="Text 10"/>
          <p:cNvSpPr/>
          <p:nvPr/>
        </p:nvSpPr>
        <p:spPr>
          <a:xfrm>
            <a:off x="685800" y="342900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1月末からの上昇</a:t>
            </a:r>
            <a:endParaRPr lang="en-US" sz="1100" dirty="0"/>
          </a:p>
        </p:txBody>
      </p:sp>
      <p:sp>
        <p:nvSpPr>
          <p:cNvPr id="13" name="Text 11"/>
          <p:cNvSpPr/>
          <p:nvPr/>
        </p:nvSpPr>
        <p:spPr>
          <a:xfrm>
            <a:off x="3063240" y="3429000"/>
            <a:ext cx="1783080" cy="36576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+約 4,000円</a:t>
            </a:r>
            <a:endParaRPr lang="en-US" sz="1600" dirty="0"/>
          </a:p>
        </p:txBody>
      </p:sp>
      <p:sp>
        <p:nvSpPr>
          <p:cNvPr id="14" name="Text 12"/>
          <p:cNvSpPr/>
          <p:nvPr/>
        </p:nvSpPr>
        <p:spPr>
          <a:xfrm>
            <a:off x="685800" y="393192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海外勢の売買シェア (3月)</a:t>
            </a:r>
            <a:endParaRPr lang="en-US" sz="1100" dirty="0"/>
          </a:p>
        </p:txBody>
      </p:sp>
      <p:sp>
        <p:nvSpPr>
          <p:cNvPr id="15" name="Text 13"/>
          <p:cNvSpPr/>
          <p:nvPr/>
        </p:nvSpPr>
        <p:spPr>
          <a:xfrm>
            <a:off x="3063240" y="3931920"/>
            <a:ext cx="1783080" cy="36576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68%</a:t>
            </a:r>
            <a:endParaRPr lang="en-US" sz="1600" dirty="0"/>
          </a:p>
        </p:txBody>
      </p:sp>
      <p:sp>
        <p:nvSpPr>
          <p:cNvPr id="16" name="Text 14"/>
          <p:cNvSpPr/>
          <p:nvPr/>
        </p:nvSpPr>
        <p:spPr>
          <a:xfrm>
            <a:off x="685800" y="5074920"/>
            <a:ext cx="4114800" cy="27432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ポイント</a:t>
            </a:r>
            <a:endParaRPr lang="en-US" sz="1100" dirty="0"/>
          </a:p>
        </p:txBody>
      </p:sp>
      <p:sp>
        <p:nvSpPr>
          <p:cNvPr id="17" name="Text 15"/>
          <p:cNvSpPr/>
          <p:nvPr/>
        </p:nvSpPr>
        <p:spPr>
          <a:xfrm>
            <a:off x="685800" y="5349240"/>
            <a:ext cx="4206240" cy="73152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メモリを軸とした半導体市況の急回復が日経平均に直接効いた局面。海外マネー主導の上昇で日経×半導体の連動性がさらに強まった。</a:t>
            </a:r>
            <a:endParaRPr lang="en-US" sz="1100" dirty="0"/>
          </a:p>
        </p:txBody>
      </p:sp>
      <p:sp>
        <p:nvSpPr>
          <p:cNvPr id="18" name="Text 16"/>
          <p:cNvSpPr/>
          <p:nvPr/>
        </p:nvSpPr>
        <p:spPr>
          <a:xfrm>
            <a:off x="5303520" y="155448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主要ニュース</a:t>
            </a:r>
            <a:endParaRPr lang="en-US" sz="1400" dirty="0"/>
          </a:p>
        </p:txBody>
      </p:sp>
      <p:sp>
        <p:nvSpPr>
          <p:cNvPr id="19" name="Shape 17"/>
          <p:cNvSpPr/>
          <p:nvPr/>
        </p:nvSpPr>
        <p:spPr>
          <a:xfrm>
            <a:off x="5303520" y="196596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20" name="Text 18"/>
          <p:cNvSpPr/>
          <p:nvPr/>
        </p:nvSpPr>
        <p:spPr>
          <a:xfrm>
            <a:off x="5303520" y="196596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2月上旬</a:t>
            </a:r>
            <a:endParaRPr lang="en-US" sz="1100" dirty="0"/>
          </a:p>
        </p:txBody>
      </p:sp>
      <p:sp>
        <p:nvSpPr>
          <p:cNvPr id="21" name="Text 19"/>
          <p:cNvSpPr/>
          <p:nvPr/>
        </p:nvSpPr>
        <p:spPr>
          <a:xfrm>
            <a:off x="6400800" y="193852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半導体メモリ価格の急騰報道が相次ぐ</a:t>
            </a:r>
            <a:endParaRPr lang="en-US" sz="1200" dirty="0"/>
          </a:p>
        </p:txBody>
      </p:sp>
      <p:sp>
        <p:nvSpPr>
          <p:cNvPr id="22" name="Text 20"/>
          <p:cNvSpPr/>
          <p:nvPr/>
        </p:nvSpPr>
        <p:spPr>
          <a:xfrm>
            <a:off x="6400800" y="224942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DRAM/NAND価格が前年同期比で大幅上昇、関連株に資金集中。</a:t>
            </a:r>
            <a:endParaRPr lang="en-US" sz="1000" dirty="0"/>
          </a:p>
        </p:txBody>
      </p:sp>
      <p:sp>
        <p:nvSpPr>
          <p:cNvPr id="23" name="Shape 21"/>
          <p:cNvSpPr/>
          <p:nvPr/>
        </p:nvSpPr>
        <p:spPr>
          <a:xfrm>
            <a:off x="5303520" y="2953512"/>
            <a:ext cx="6400800" cy="0"/>
          </a:xfrm>
          <a:prstGeom prst="line">
            <a:avLst/>
          </a:prstGeom>
          <a:noFill/>
          <a:ln w="6350">
            <a:solidFill>
              <a:srgbClr val="E2E8F0"/>
            </a:solidFill>
            <a:prstDash val="solid"/>
          </a:ln>
        </p:spPr>
        <p:txBody>
          <a:bodyPr/>
          <a:lstStyle/>
          <a:p>
            <a:endParaRPr lang="ja-JP" altLang="en-US"/>
          </a:p>
        </p:txBody>
      </p:sp>
      <p:sp>
        <p:nvSpPr>
          <p:cNvPr id="24" name="Shape 22"/>
          <p:cNvSpPr/>
          <p:nvPr/>
        </p:nvSpPr>
        <p:spPr>
          <a:xfrm>
            <a:off x="5303520" y="301752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25" name="Text 23"/>
          <p:cNvSpPr/>
          <p:nvPr/>
        </p:nvSpPr>
        <p:spPr>
          <a:xfrm>
            <a:off x="5303520" y="301752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2/20</a:t>
            </a:r>
            <a:endParaRPr lang="en-US" sz="1100" dirty="0"/>
          </a:p>
        </p:txBody>
      </p:sp>
      <p:sp>
        <p:nvSpPr>
          <p:cNvPr id="26" name="Text 24"/>
          <p:cNvSpPr/>
          <p:nvPr/>
        </p:nvSpPr>
        <p:spPr>
          <a:xfrm>
            <a:off x="6400800" y="299008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2026年日本株見通し、各社が相次ぎ上方修正</a:t>
            </a:r>
            <a:endParaRPr lang="en-US" sz="1200" dirty="0"/>
          </a:p>
        </p:txBody>
      </p:sp>
      <p:sp>
        <p:nvSpPr>
          <p:cNvPr id="27" name="Text 25"/>
          <p:cNvSpPr/>
          <p:nvPr/>
        </p:nvSpPr>
        <p:spPr>
          <a:xfrm>
            <a:off x="6400800" y="330098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三井住友DSアセットマネジメントは年末予想を引き上げ。</a:t>
            </a:r>
            <a:endParaRPr lang="en-US" sz="1000" dirty="0"/>
          </a:p>
        </p:txBody>
      </p:sp>
      <p:sp>
        <p:nvSpPr>
          <p:cNvPr id="28" name="Shape 26"/>
          <p:cNvSpPr/>
          <p:nvPr/>
        </p:nvSpPr>
        <p:spPr>
          <a:xfrm>
            <a:off x="5303520" y="4005072"/>
            <a:ext cx="6400800" cy="0"/>
          </a:xfrm>
          <a:prstGeom prst="line">
            <a:avLst/>
          </a:prstGeom>
          <a:noFill/>
          <a:ln w="6350">
            <a:solidFill>
              <a:srgbClr val="E2E8F0"/>
            </a:solidFill>
            <a:prstDash val="solid"/>
          </a:ln>
        </p:spPr>
        <p:txBody>
          <a:bodyPr/>
          <a:lstStyle/>
          <a:p>
            <a:endParaRPr lang="ja-JP" altLang="en-US"/>
          </a:p>
        </p:txBody>
      </p:sp>
      <p:sp>
        <p:nvSpPr>
          <p:cNvPr id="29" name="Shape 27"/>
          <p:cNvSpPr/>
          <p:nvPr/>
        </p:nvSpPr>
        <p:spPr>
          <a:xfrm>
            <a:off x="5303520" y="406908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30" name="Text 28"/>
          <p:cNvSpPr/>
          <p:nvPr/>
        </p:nvSpPr>
        <p:spPr>
          <a:xfrm>
            <a:off x="5303520" y="406908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2/26</a:t>
            </a:r>
            <a:endParaRPr lang="en-US" sz="1100" dirty="0"/>
          </a:p>
        </p:txBody>
      </p:sp>
      <p:sp>
        <p:nvSpPr>
          <p:cNvPr id="31" name="Text 29"/>
          <p:cNvSpPr/>
          <p:nvPr/>
        </p:nvSpPr>
        <p:spPr>
          <a:xfrm>
            <a:off x="6400800" y="404164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終値58,753円、連日最高値更新</a:t>
            </a:r>
            <a:endParaRPr lang="en-US" sz="1200" dirty="0"/>
          </a:p>
        </p:txBody>
      </p:sp>
      <p:sp>
        <p:nvSpPr>
          <p:cNvPr id="32" name="Text 30"/>
          <p:cNvSpPr/>
          <p:nvPr/>
        </p:nvSpPr>
        <p:spPr>
          <a:xfrm>
            <a:off x="6400800" y="435254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+170円高、AI関連と半導体の主力が買い継続。</a:t>
            </a:r>
            <a:endParaRPr lang="en-US" sz="1000" dirty="0"/>
          </a:p>
        </p:txBody>
      </p:sp>
      <p:sp>
        <p:nvSpPr>
          <p:cNvPr id="33" name="Shape 31"/>
          <p:cNvSpPr/>
          <p:nvPr/>
        </p:nvSpPr>
        <p:spPr>
          <a:xfrm>
            <a:off x="5303520" y="5056632"/>
            <a:ext cx="6400800" cy="0"/>
          </a:xfrm>
          <a:prstGeom prst="line">
            <a:avLst/>
          </a:prstGeom>
          <a:noFill/>
          <a:ln w="6350">
            <a:solidFill>
              <a:srgbClr val="E2E8F0"/>
            </a:solidFill>
            <a:prstDash val="solid"/>
          </a:ln>
        </p:spPr>
        <p:txBody>
          <a:bodyPr/>
          <a:lstStyle/>
          <a:p>
            <a:endParaRPr lang="ja-JP" altLang="en-US"/>
          </a:p>
        </p:txBody>
      </p:sp>
      <p:sp>
        <p:nvSpPr>
          <p:cNvPr id="34" name="Shape 32"/>
          <p:cNvSpPr/>
          <p:nvPr/>
        </p:nvSpPr>
        <p:spPr>
          <a:xfrm>
            <a:off x="5303520" y="512064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35" name="Text 33"/>
          <p:cNvSpPr/>
          <p:nvPr/>
        </p:nvSpPr>
        <p:spPr>
          <a:xfrm>
            <a:off x="5303520" y="512064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2/27</a:t>
            </a:r>
            <a:endParaRPr lang="en-US" sz="1100" dirty="0"/>
          </a:p>
        </p:txBody>
      </p:sp>
      <p:sp>
        <p:nvSpPr>
          <p:cNvPr id="36" name="Text 34"/>
          <p:cNvSpPr/>
          <p:nvPr/>
        </p:nvSpPr>
        <p:spPr>
          <a:xfrm>
            <a:off x="6400800" y="509320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終値58,850円、2月の戻り高値</a:t>
            </a:r>
            <a:endParaRPr lang="en-US" sz="1200" dirty="0"/>
          </a:p>
        </p:txBody>
      </p:sp>
      <p:sp>
        <p:nvSpPr>
          <p:cNvPr id="37" name="Text 35"/>
          <p:cNvSpPr/>
          <p:nvPr/>
        </p:nvSpPr>
        <p:spPr>
          <a:xfrm>
            <a:off x="6400800" y="540410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本格反落前のピーク。中東情勢への警戒が水面下で台頭。</a:t>
            </a:r>
            <a:endParaRPr lang="en-US" sz="1000" dirty="0"/>
          </a:p>
        </p:txBody>
      </p:sp>
      <p:sp>
        <p:nvSpPr>
          <p:cNvPr id="38" name="Shape 36"/>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40" name="Text 38"/>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MARCH 2026</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3月: 中東情勢で急落 — 35年ぶり最大の月間下落</a:t>
            </a:r>
            <a:endParaRPr lang="en-US" sz="2600" dirty="0"/>
          </a:p>
        </p:txBody>
      </p:sp>
      <p:sp>
        <p:nvSpPr>
          <p:cNvPr id="5" name="Shape 3"/>
          <p:cNvSpPr/>
          <p:nvPr/>
        </p:nvSpPr>
        <p:spPr>
          <a:xfrm>
            <a:off x="457200" y="1554480"/>
            <a:ext cx="4572000" cy="4572000"/>
          </a:xfrm>
          <a:prstGeom prst="rect">
            <a:avLst/>
          </a:prstGeom>
          <a:solidFill>
            <a:srgbClr val="F8FAFC"/>
          </a:solidFill>
          <a:ln w="6350">
            <a:solidFill>
              <a:srgbClr val="E2E8F0"/>
            </a:solidFill>
            <a:prstDash val="solid"/>
          </a:ln>
        </p:spPr>
        <p:txBody>
          <a:bodyPr/>
          <a:lstStyle/>
          <a:p>
            <a:endParaRPr lang="ja-JP" altLang="en-US"/>
          </a:p>
        </p:txBody>
      </p:sp>
      <p:sp>
        <p:nvSpPr>
          <p:cNvPr id="6" name="Shape 4"/>
          <p:cNvSpPr/>
          <p:nvPr/>
        </p:nvSpPr>
        <p:spPr>
          <a:xfrm>
            <a:off x="457200" y="1554480"/>
            <a:ext cx="73152" cy="4572000"/>
          </a:xfrm>
          <a:prstGeom prst="rect">
            <a:avLst/>
          </a:prstGeom>
          <a:solidFill>
            <a:srgbClr val="F96167"/>
          </a:solidFill>
          <a:ln w="12700">
            <a:solidFill>
              <a:srgbClr val="F96167"/>
            </a:solidFill>
            <a:prstDash val="solid"/>
          </a:ln>
        </p:spPr>
        <p:txBody>
          <a:bodyPr/>
          <a:lstStyle/>
          <a:p>
            <a:endParaRPr lang="ja-JP" altLang="en-US"/>
          </a:p>
        </p:txBody>
      </p:sp>
      <p:sp>
        <p:nvSpPr>
          <p:cNvPr id="7" name="Text 5"/>
          <p:cNvSpPr/>
          <p:nvPr/>
        </p:nvSpPr>
        <p:spPr>
          <a:xfrm>
            <a:off x="685800" y="1691640"/>
            <a:ext cx="4114800" cy="274320"/>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概況</a:t>
            </a:r>
            <a:endParaRPr lang="en-US" sz="1100" dirty="0"/>
          </a:p>
        </p:txBody>
      </p:sp>
      <p:sp>
        <p:nvSpPr>
          <p:cNvPr id="8" name="Text 6"/>
          <p:cNvSpPr/>
          <p:nvPr/>
        </p:nvSpPr>
        <p:spPr>
          <a:xfrm>
            <a:off x="685800" y="1965960"/>
            <a:ext cx="4206240" cy="64008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米・イスラエルのイラン攻撃で原油急騰。リスクオフが一気に進行。</a:t>
            </a:r>
            <a:endParaRPr lang="en-US" sz="1700" dirty="0"/>
          </a:p>
        </p:txBody>
      </p:sp>
      <p:sp>
        <p:nvSpPr>
          <p:cNvPr id="9" name="Shape 7"/>
          <p:cNvSpPr/>
          <p:nvPr/>
        </p:nvSpPr>
        <p:spPr>
          <a:xfrm>
            <a:off x="685800" y="2788920"/>
            <a:ext cx="4114800" cy="0"/>
          </a:xfrm>
          <a:prstGeom prst="line">
            <a:avLst/>
          </a:prstGeom>
          <a:noFill/>
          <a:ln w="9525">
            <a:solidFill>
              <a:srgbClr val="E2E8F0"/>
            </a:solidFill>
            <a:prstDash val="solid"/>
          </a:ln>
        </p:spPr>
        <p:txBody>
          <a:bodyPr/>
          <a:lstStyle/>
          <a:p>
            <a:endParaRPr lang="ja-JP" altLang="en-US"/>
          </a:p>
        </p:txBody>
      </p:sp>
      <p:sp>
        <p:nvSpPr>
          <p:cNvPr id="10" name="Text 8"/>
          <p:cNvSpPr/>
          <p:nvPr/>
        </p:nvSpPr>
        <p:spPr>
          <a:xfrm>
            <a:off x="685800" y="292608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月間下落幅</a:t>
            </a:r>
            <a:endParaRPr lang="en-US" sz="1100" dirty="0"/>
          </a:p>
        </p:txBody>
      </p:sp>
      <p:sp>
        <p:nvSpPr>
          <p:cNvPr id="11" name="Text 9"/>
          <p:cNvSpPr/>
          <p:nvPr/>
        </p:nvSpPr>
        <p:spPr>
          <a:xfrm>
            <a:off x="3063240" y="2926080"/>
            <a:ext cx="1783080" cy="365760"/>
          </a:xfrm>
          <a:prstGeom prst="rect">
            <a:avLst/>
          </a:prstGeom>
          <a:noFill/>
          <a:ln/>
        </p:spPr>
        <p:txBody>
          <a:bodyPr wrap="square" lIns="0" tIns="0" rIns="0" bIns="0" rtlCol="0" anchor="ctr"/>
          <a:lstStyle/>
          <a:p>
            <a:pPr marL="0" indent="0" algn="r">
              <a:buNone/>
            </a:pPr>
            <a:r>
              <a:rPr lang="en-US" sz="1600" b="1" dirty="0">
                <a:solidFill>
                  <a:srgbClr val="F96167"/>
                </a:solidFill>
                <a:latin typeface="Calibri" pitchFamily="34" charset="0"/>
                <a:ea typeface="Calibri" pitchFamily="34" charset="-122"/>
                <a:cs typeface="Calibri" pitchFamily="34" charset="-120"/>
              </a:rPr>
              <a:t>-7,786円</a:t>
            </a:r>
            <a:endParaRPr lang="en-US" sz="1600" dirty="0"/>
          </a:p>
        </p:txBody>
      </p:sp>
      <p:sp>
        <p:nvSpPr>
          <p:cNvPr id="12" name="Text 10"/>
          <p:cNvSpPr/>
          <p:nvPr/>
        </p:nvSpPr>
        <p:spPr>
          <a:xfrm>
            <a:off x="685800" y="342900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月間下落率</a:t>
            </a:r>
            <a:endParaRPr lang="en-US" sz="1100" dirty="0"/>
          </a:p>
        </p:txBody>
      </p:sp>
      <p:sp>
        <p:nvSpPr>
          <p:cNvPr id="13" name="Text 11"/>
          <p:cNvSpPr/>
          <p:nvPr/>
        </p:nvSpPr>
        <p:spPr>
          <a:xfrm>
            <a:off x="3063240" y="3429000"/>
            <a:ext cx="1783080" cy="365760"/>
          </a:xfrm>
          <a:prstGeom prst="rect">
            <a:avLst/>
          </a:prstGeom>
          <a:noFill/>
          <a:ln/>
        </p:spPr>
        <p:txBody>
          <a:bodyPr wrap="square" lIns="0" tIns="0" rIns="0" bIns="0" rtlCol="0" anchor="ctr"/>
          <a:lstStyle/>
          <a:p>
            <a:pPr marL="0" indent="0" algn="r">
              <a:buNone/>
            </a:pPr>
            <a:r>
              <a:rPr lang="en-US" sz="1600" b="1" dirty="0">
                <a:solidFill>
                  <a:srgbClr val="F96167"/>
                </a:solidFill>
                <a:latin typeface="Calibri" pitchFamily="34" charset="0"/>
                <a:ea typeface="Calibri" pitchFamily="34" charset="-122"/>
                <a:cs typeface="Calibri" pitchFamily="34" charset="-120"/>
              </a:rPr>
              <a:t>-13%</a:t>
            </a:r>
            <a:endParaRPr lang="en-US" sz="1600" dirty="0"/>
          </a:p>
        </p:txBody>
      </p:sp>
      <p:sp>
        <p:nvSpPr>
          <p:cNvPr id="14" name="Text 12"/>
          <p:cNvSpPr/>
          <p:nvPr/>
        </p:nvSpPr>
        <p:spPr>
          <a:xfrm>
            <a:off x="685800" y="393192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年初来安値 (3/31)</a:t>
            </a:r>
            <a:endParaRPr lang="en-US" sz="1100" dirty="0"/>
          </a:p>
        </p:txBody>
      </p:sp>
      <p:sp>
        <p:nvSpPr>
          <p:cNvPr id="15" name="Text 13"/>
          <p:cNvSpPr/>
          <p:nvPr/>
        </p:nvSpPr>
        <p:spPr>
          <a:xfrm>
            <a:off x="3063240" y="3931920"/>
            <a:ext cx="1783080" cy="365760"/>
          </a:xfrm>
          <a:prstGeom prst="rect">
            <a:avLst/>
          </a:prstGeom>
          <a:noFill/>
          <a:ln/>
        </p:spPr>
        <p:txBody>
          <a:bodyPr wrap="square" lIns="0" tIns="0" rIns="0" bIns="0" rtlCol="0" anchor="ctr"/>
          <a:lstStyle/>
          <a:p>
            <a:pPr marL="0" indent="0" algn="r">
              <a:buNone/>
            </a:pPr>
            <a:r>
              <a:rPr lang="en-US" sz="1600" b="1" dirty="0">
                <a:solidFill>
                  <a:srgbClr val="F96167"/>
                </a:solidFill>
                <a:latin typeface="Calibri" pitchFamily="34" charset="0"/>
                <a:ea typeface="Calibri" pitchFamily="34" charset="-122"/>
                <a:cs typeface="Calibri" pitchFamily="34" charset="-120"/>
              </a:rPr>
              <a:t>50,559円</a:t>
            </a:r>
            <a:endParaRPr lang="en-US" sz="1600" dirty="0"/>
          </a:p>
        </p:txBody>
      </p:sp>
      <p:sp>
        <p:nvSpPr>
          <p:cNvPr id="16" name="Text 14"/>
          <p:cNvSpPr/>
          <p:nvPr/>
        </p:nvSpPr>
        <p:spPr>
          <a:xfrm>
            <a:off x="685800" y="5074920"/>
            <a:ext cx="4114800" cy="274320"/>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ポイント</a:t>
            </a:r>
            <a:endParaRPr lang="en-US" sz="1100" dirty="0"/>
          </a:p>
        </p:txBody>
      </p:sp>
      <p:sp>
        <p:nvSpPr>
          <p:cNvPr id="17" name="Text 15"/>
          <p:cNvSpPr/>
          <p:nvPr/>
        </p:nvSpPr>
        <p:spPr>
          <a:xfrm>
            <a:off x="685800" y="5349240"/>
            <a:ext cx="4206240" cy="73152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1月以降の上昇分を一気に失う展開。景気敏感株と直前まで買われた銘柄ほど大きく売られた。3月の下落幅は1990年代以降で最大級。</a:t>
            </a:r>
            <a:endParaRPr lang="en-US" sz="1100" dirty="0"/>
          </a:p>
        </p:txBody>
      </p:sp>
      <p:sp>
        <p:nvSpPr>
          <p:cNvPr id="18" name="Text 16"/>
          <p:cNvSpPr/>
          <p:nvPr/>
        </p:nvSpPr>
        <p:spPr>
          <a:xfrm>
            <a:off x="5303520" y="155448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主要ニュース</a:t>
            </a:r>
            <a:endParaRPr lang="en-US" sz="1400" dirty="0"/>
          </a:p>
        </p:txBody>
      </p:sp>
      <p:sp>
        <p:nvSpPr>
          <p:cNvPr id="19" name="Shape 17"/>
          <p:cNvSpPr/>
          <p:nvPr/>
        </p:nvSpPr>
        <p:spPr>
          <a:xfrm>
            <a:off x="5303520" y="1965960"/>
            <a:ext cx="960120" cy="457200"/>
          </a:xfrm>
          <a:prstGeom prst="rect">
            <a:avLst/>
          </a:prstGeom>
          <a:solidFill>
            <a:srgbClr val="F96167"/>
          </a:solidFill>
          <a:ln w="12700">
            <a:solidFill>
              <a:srgbClr val="F96167"/>
            </a:solidFill>
            <a:prstDash val="solid"/>
          </a:ln>
        </p:spPr>
        <p:txBody>
          <a:bodyPr/>
          <a:lstStyle/>
          <a:p>
            <a:endParaRPr lang="ja-JP" altLang="en-US"/>
          </a:p>
        </p:txBody>
      </p:sp>
      <p:sp>
        <p:nvSpPr>
          <p:cNvPr id="20" name="Text 18"/>
          <p:cNvSpPr/>
          <p:nvPr/>
        </p:nvSpPr>
        <p:spPr>
          <a:xfrm>
            <a:off x="5303520" y="196596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3月上旬</a:t>
            </a:r>
            <a:endParaRPr lang="en-US" sz="1100" dirty="0"/>
          </a:p>
        </p:txBody>
      </p:sp>
      <p:sp>
        <p:nvSpPr>
          <p:cNvPr id="21" name="Text 19"/>
          <p:cNvSpPr/>
          <p:nvPr/>
        </p:nvSpPr>
        <p:spPr>
          <a:xfrm>
            <a:off x="6400800" y="193852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米・イスラエルがイランを攻撃、中東情勢が悪化</a:t>
            </a:r>
            <a:endParaRPr lang="en-US" sz="1200" dirty="0"/>
          </a:p>
        </p:txBody>
      </p:sp>
      <p:sp>
        <p:nvSpPr>
          <p:cNvPr id="22" name="Text 20"/>
          <p:cNvSpPr/>
          <p:nvPr/>
        </p:nvSpPr>
        <p:spPr>
          <a:xfrm>
            <a:off x="6400800" y="224942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ホルムズ海峡の輸送リスクで原油急騰、世界株が一斉にリスクオフ。</a:t>
            </a:r>
            <a:endParaRPr lang="en-US" sz="1000" dirty="0"/>
          </a:p>
        </p:txBody>
      </p:sp>
      <p:sp>
        <p:nvSpPr>
          <p:cNvPr id="23" name="Shape 21"/>
          <p:cNvSpPr/>
          <p:nvPr/>
        </p:nvSpPr>
        <p:spPr>
          <a:xfrm>
            <a:off x="5303520" y="2953512"/>
            <a:ext cx="6400800" cy="0"/>
          </a:xfrm>
          <a:prstGeom prst="line">
            <a:avLst/>
          </a:prstGeom>
          <a:noFill/>
          <a:ln w="6350">
            <a:solidFill>
              <a:srgbClr val="E2E8F0"/>
            </a:solidFill>
            <a:prstDash val="solid"/>
          </a:ln>
        </p:spPr>
        <p:txBody>
          <a:bodyPr/>
          <a:lstStyle/>
          <a:p>
            <a:endParaRPr lang="ja-JP" altLang="en-US"/>
          </a:p>
        </p:txBody>
      </p:sp>
      <p:sp>
        <p:nvSpPr>
          <p:cNvPr id="24" name="Shape 22"/>
          <p:cNvSpPr/>
          <p:nvPr/>
        </p:nvSpPr>
        <p:spPr>
          <a:xfrm>
            <a:off x="5303520" y="3017520"/>
            <a:ext cx="960120" cy="457200"/>
          </a:xfrm>
          <a:prstGeom prst="rect">
            <a:avLst/>
          </a:prstGeom>
          <a:solidFill>
            <a:srgbClr val="F96167"/>
          </a:solidFill>
          <a:ln w="12700">
            <a:solidFill>
              <a:srgbClr val="F96167"/>
            </a:solidFill>
            <a:prstDash val="solid"/>
          </a:ln>
        </p:spPr>
        <p:txBody>
          <a:bodyPr/>
          <a:lstStyle/>
          <a:p>
            <a:endParaRPr lang="ja-JP" altLang="en-US"/>
          </a:p>
        </p:txBody>
      </p:sp>
      <p:sp>
        <p:nvSpPr>
          <p:cNvPr id="25" name="Text 23"/>
          <p:cNvSpPr/>
          <p:nvPr/>
        </p:nvSpPr>
        <p:spPr>
          <a:xfrm>
            <a:off x="5303520" y="301752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3/9</a:t>
            </a:r>
            <a:endParaRPr lang="en-US" sz="1100" dirty="0"/>
          </a:p>
        </p:txBody>
      </p:sp>
      <p:sp>
        <p:nvSpPr>
          <p:cNvPr id="26" name="Text 24"/>
          <p:cNvSpPr/>
          <p:nvPr/>
        </p:nvSpPr>
        <p:spPr>
          <a:xfrm>
            <a:off x="6400800" y="299008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月初来下落率が-10%に達する</a:t>
            </a:r>
            <a:endParaRPr lang="en-US" sz="1200" dirty="0"/>
          </a:p>
        </p:txBody>
      </p:sp>
      <p:sp>
        <p:nvSpPr>
          <p:cNvPr id="27" name="Text 25"/>
          <p:cNvSpPr/>
          <p:nvPr/>
        </p:nvSpPr>
        <p:spPr>
          <a:xfrm>
            <a:off x="6400800" y="330098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エネルギー供給不安が主因、AI・半導体株から利益確定売り。</a:t>
            </a:r>
            <a:endParaRPr lang="en-US" sz="1000" dirty="0"/>
          </a:p>
        </p:txBody>
      </p:sp>
      <p:sp>
        <p:nvSpPr>
          <p:cNvPr id="28" name="Shape 26"/>
          <p:cNvSpPr/>
          <p:nvPr/>
        </p:nvSpPr>
        <p:spPr>
          <a:xfrm>
            <a:off x="5303520" y="4005072"/>
            <a:ext cx="6400800" cy="0"/>
          </a:xfrm>
          <a:prstGeom prst="line">
            <a:avLst/>
          </a:prstGeom>
          <a:noFill/>
          <a:ln w="6350">
            <a:solidFill>
              <a:srgbClr val="E2E8F0"/>
            </a:solidFill>
            <a:prstDash val="solid"/>
          </a:ln>
        </p:spPr>
        <p:txBody>
          <a:bodyPr/>
          <a:lstStyle/>
          <a:p>
            <a:endParaRPr lang="ja-JP" altLang="en-US"/>
          </a:p>
        </p:txBody>
      </p:sp>
      <p:sp>
        <p:nvSpPr>
          <p:cNvPr id="29" name="Shape 27"/>
          <p:cNvSpPr/>
          <p:nvPr/>
        </p:nvSpPr>
        <p:spPr>
          <a:xfrm>
            <a:off x="5303520" y="4069080"/>
            <a:ext cx="960120" cy="457200"/>
          </a:xfrm>
          <a:prstGeom prst="rect">
            <a:avLst/>
          </a:prstGeom>
          <a:solidFill>
            <a:srgbClr val="F96167"/>
          </a:solidFill>
          <a:ln w="12700">
            <a:solidFill>
              <a:srgbClr val="F96167"/>
            </a:solidFill>
            <a:prstDash val="solid"/>
          </a:ln>
        </p:spPr>
        <p:txBody>
          <a:bodyPr/>
          <a:lstStyle/>
          <a:p>
            <a:endParaRPr lang="ja-JP" altLang="en-US"/>
          </a:p>
        </p:txBody>
      </p:sp>
      <p:sp>
        <p:nvSpPr>
          <p:cNvPr id="30" name="Text 28"/>
          <p:cNvSpPr/>
          <p:nvPr/>
        </p:nvSpPr>
        <p:spPr>
          <a:xfrm>
            <a:off x="5303520" y="406908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3/23</a:t>
            </a:r>
            <a:endParaRPr lang="en-US" sz="1100" dirty="0"/>
          </a:p>
        </p:txBody>
      </p:sp>
      <p:sp>
        <p:nvSpPr>
          <p:cNvPr id="31" name="Text 29"/>
          <p:cNvSpPr/>
          <p:nvPr/>
        </p:nvSpPr>
        <p:spPr>
          <a:xfrm>
            <a:off x="6400800" y="404164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日経平均、終値51,515円 (-1,857円)</a:t>
            </a:r>
            <a:endParaRPr lang="en-US" sz="1200" dirty="0"/>
          </a:p>
        </p:txBody>
      </p:sp>
      <p:sp>
        <p:nvSpPr>
          <p:cNvPr id="32" name="Text 30"/>
          <p:cNvSpPr/>
          <p:nvPr/>
        </p:nvSpPr>
        <p:spPr>
          <a:xfrm>
            <a:off x="6400800" y="435254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中東情勢の長期化観測で売り加速、信用評価損も急拡大。</a:t>
            </a:r>
            <a:endParaRPr lang="en-US" sz="1000" dirty="0"/>
          </a:p>
        </p:txBody>
      </p:sp>
      <p:sp>
        <p:nvSpPr>
          <p:cNvPr id="33" name="Shape 31"/>
          <p:cNvSpPr/>
          <p:nvPr/>
        </p:nvSpPr>
        <p:spPr>
          <a:xfrm>
            <a:off x="5303520" y="5056632"/>
            <a:ext cx="6400800" cy="0"/>
          </a:xfrm>
          <a:prstGeom prst="line">
            <a:avLst/>
          </a:prstGeom>
          <a:noFill/>
          <a:ln w="6350">
            <a:solidFill>
              <a:srgbClr val="E2E8F0"/>
            </a:solidFill>
            <a:prstDash val="solid"/>
          </a:ln>
        </p:spPr>
        <p:txBody>
          <a:bodyPr/>
          <a:lstStyle/>
          <a:p>
            <a:endParaRPr lang="ja-JP" altLang="en-US"/>
          </a:p>
        </p:txBody>
      </p:sp>
      <p:sp>
        <p:nvSpPr>
          <p:cNvPr id="34" name="Shape 32"/>
          <p:cNvSpPr/>
          <p:nvPr/>
        </p:nvSpPr>
        <p:spPr>
          <a:xfrm>
            <a:off x="5303520" y="5120640"/>
            <a:ext cx="960120" cy="457200"/>
          </a:xfrm>
          <a:prstGeom prst="rect">
            <a:avLst/>
          </a:prstGeom>
          <a:solidFill>
            <a:srgbClr val="F96167"/>
          </a:solidFill>
          <a:ln w="12700">
            <a:solidFill>
              <a:srgbClr val="F96167"/>
            </a:solidFill>
            <a:prstDash val="solid"/>
          </a:ln>
        </p:spPr>
        <p:txBody>
          <a:bodyPr/>
          <a:lstStyle/>
          <a:p>
            <a:endParaRPr lang="ja-JP" altLang="en-US"/>
          </a:p>
        </p:txBody>
      </p:sp>
      <p:sp>
        <p:nvSpPr>
          <p:cNvPr id="35" name="Text 33"/>
          <p:cNvSpPr/>
          <p:nvPr/>
        </p:nvSpPr>
        <p:spPr>
          <a:xfrm>
            <a:off x="5303520" y="512064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3/31</a:t>
            </a:r>
            <a:endParaRPr lang="en-US" sz="1100" dirty="0"/>
          </a:p>
        </p:txBody>
      </p:sp>
      <p:sp>
        <p:nvSpPr>
          <p:cNvPr id="36" name="Text 34"/>
          <p:cNvSpPr/>
          <p:nvPr/>
        </p:nvSpPr>
        <p:spPr>
          <a:xfrm>
            <a:off x="6400800" y="509320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終値50,559円、年初来安値で月を終える</a:t>
            </a:r>
            <a:endParaRPr lang="en-US" sz="1200" dirty="0"/>
          </a:p>
        </p:txBody>
      </p:sp>
      <p:sp>
        <p:nvSpPr>
          <p:cNvPr id="37" name="Text 35"/>
          <p:cNvSpPr/>
          <p:nvPr/>
        </p:nvSpPr>
        <p:spPr>
          <a:xfrm>
            <a:off x="6400800" y="540410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月間下落幅-7,786円は35年ぶり過去最大を更新。</a:t>
            </a:r>
            <a:endParaRPr lang="en-US" sz="1000" dirty="0"/>
          </a:p>
        </p:txBody>
      </p:sp>
      <p:sp>
        <p:nvSpPr>
          <p:cNvPr id="38" name="Shape 36"/>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40" name="Text 38"/>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APRIL 2026</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4月: 力強いリバウンド — 終値ベースで初の6万円台</a:t>
            </a:r>
            <a:endParaRPr lang="en-US" sz="2600" dirty="0"/>
          </a:p>
        </p:txBody>
      </p:sp>
      <p:sp>
        <p:nvSpPr>
          <p:cNvPr id="5" name="Shape 3"/>
          <p:cNvSpPr/>
          <p:nvPr/>
        </p:nvSpPr>
        <p:spPr>
          <a:xfrm>
            <a:off x="457200" y="1554480"/>
            <a:ext cx="4572000" cy="4572000"/>
          </a:xfrm>
          <a:prstGeom prst="rect">
            <a:avLst/>
          </a:prstGeom>
          <a:solidFill>
            <a:srgbClr val="F8FAFC"/>
          </a:solidFill>
          <a:ln w="6350">
            <a:solidFill>
              <a:srgbClr val="E2E8F0"/>
            </a:solidFill>
            <a:prstDash val="solid"/>
          </a:ln>
        </p:spPr>
        <p:txBody>
          <a:bodyPr/>
          <a:lstStyle/>
          <a:p>
            <a:endParaRPr lang="ja-JP" altLang="en-US"/>
          </a:p>
        </p:txBody>
      </p:sp>
      <p:sp>
        <p:nvSpPr>
          <p:cNvPr id="6" name="Shape 4"/>
          <p:cNvSpPr/>
          <p:nvPr/>
        </p:nvSpPr>
        <p:spPr>
          <a:xfrm>
            <a:off x="457200" y="1554480"/>
            <a:ext cx="73152" cy="4572000"/>
          </a:xfrm>
          <a:prstGeom prst="rect">
            <a:avLst/>
          </a:prstGeom>
          <a:solidFill>
            <a:srgbClr val="10B981"/>
          </a:solidFill>
          <a:ln w="12700">
            <a:solidFill>
              <a:srgbClr val="10B981"/>
            </a:solidFill>
            <a:prstDash val="solid"/>
          </a:ln>
        </p:spPr>
        <p:txBody>
          <a:bodyPr/>
          <a:lstStyle/>
          <a:p>
            <a:endParaRPr lang="ja-JP" altLang="en-US"/>
          </a:p>
        </p:txBody>
      </p:sp>
      <p:sp>
        <p:nvSpPr>
          <p:cNvPr id="7" name="Text 5"/>
          <p:cNvSpPr/>
          <p:nvPr/>
        </p:nvSpPr>
        <p:spPr>
          <a:xfrm>
            <a:off x="685800" y="1691640"/>
            <a:ext cx="4114800" cy="27432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概況</a:t>
            </a:r>
            <a:endParaRPr lang="en-US" sz="1100" dirty="0"/>
          </a:p>
        </p:txBody>
      </p:sp>
      <p:sp>
        <p:nvSpPr>
          <p:cNvPr id="8" name="Text 6"/>
          <p:cNvSpPr/>
          <p:nvPr/>
        </p:nvSpPr>
        <p:spPr>
          <a:xfrm>
            <a:off x="685800" y="1965960"/>
            <a:ext cx="4206240" cy="64008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SOX指数+38.7%に追随。米イラン和平期待とAI需要再評価で急反発。</a:t>
            </a:r>
            <a:endParaRPr lang="en-US" sz="1700" dirty="0"/>
          </a:p>
        </p:txBody>
      </p:sp>
      <p:sp>
        <p:nvSpPr>
          <p:cNvPr id="9" name="Shape 7"/>
          <p:cNvSpPr/>
          <p:nvPr/>
        </p:nvSpPr>
        <p:spPr>
          <a:xfrm>
            <a:off x="685800" y="2788920"/>
            <a:ext cx="4114800" cy="0"/>
          </a:xfrm>
          <a:prstGeom prst="line">
            <a:avLst/>
          </a:prstGeom>
          <a:noFill/>
          <a:ln w="9525">
            <a:solidFill>
              <a:srgbClr val="E2E8F0"/>
            </a:solidFill>
            <a:prstDash val="solid"/>
          </a:ln>
        </p:spPr>
        <p:txBody>
          <a:bodyPr/>
          <a:lstStyle/>
          <a:p>
            <a:endParaRPr lang="ja-JP" altLang="en-US"/>
          </a:p>
        </p:txBody>
      </p:sp>
      <p:sp>
        <p:nvSpPr>
          <p:cNvPr id="10" name="Text 8"/>
          <p:cNvSpPr/>
          <p:nvPr/>
        </p:nvSpPr>
        <p:spPr>
          <a:xfrm>
            <a:off x="685800" y="292608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月間騰落率</a:t>
            </a:r>
            <a:endParaRPr lang="en-US" sz="1100" dirty="0"/>
          </a:p>
        </p:txBody>
      </p:sp>
      <p:sp>
        <p:nvSpPr>
          <p:cNvPr id="11" name="Text 9"/>
          <p:cNvSpPr/>
          <p:nvPr/>
        </p:nvSpPr>
        <p:spPr>
          <a:xfrm>
            <a:off x="3063240" y="2926080"/>
            <a:ext cx="1783080" cy="365760"/>
          </a:xfrm>
          <a:prstGeom prst="rect">
            <a:avLst/>
          </a:prstGeom>
          <a:noFill/>
          <a:ln/>
        </p:spPr>
        <p:txBody>
          <a:bodyPr wrap="square" lIns="0" tIns="0" rIns="0" bIns="0" rtlCol="0" anchor="ctr"/>
          <a:lstStyle/>
          <a:p>
            <a:pPr marL="0" indent="0" algn="r">
              <a:buNone/>
            </a:pPr>
            <a:r>
              <a:rPr lang="en-US" sz="1600" b="1" dirty="0">
                <a:solidFill>
                  <a:srgbClr val="10B981"/>
                </a:solidFill>
                <a:latin typeface="Calibri" pitchFamily="34" charset="0"/>
                <a:ea typeface="Calibri" pitchFamily="34" charset="-122"/>
                <a:cs typeface="Calibri" pitchFamily="34" charset="-120"/>
              </a:rPr>
              <a:t>+16.1%</a:t>
            </a:r>
            <a:endParaRPr lang="en-US" sz="1600" dirty="0"/>
          </a:p>
        </p:txBody>
      </p:sp>
      <p:sp>
        <p:nvSpPr>
          <p:cNvPr id="12" name="Text 10"/>
          <p:cNvSpPr/>
          <p:nvPr/>
        </p:nvSpPr>
        <p:spPr>
          <a:xfrm>
            <a:off x="685800" y="342900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4/16 終値</a:t>
            </a:r>
            <a:endParaRPr lang="en-US" sz="1100" dirty="0"/>
          </a:p>
        </p:txBody>
      </p:sp>
      <p:sp>
        <p:nvSpPr>
          <p:cNvPr id="13" name="Text 11"/>
          <p:cNvSpPr/>
          <p:nvPr/>
        </p:nvSpPr>
        <p:spPr>
          <a:xfrm>
            <a:off x="3063240" y="3429000"/>
            <a:ext cx="1783080" cy="36576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59,518円</a:t>
            </a:r>
            <a:endParaRPr lang="en-US" sz="1600" dirty="0"/>
          </a:p>
        </p:txBody>
      </p:sp>
      <p:sp>
        <p:nvSpPr>
          <p:cNvPr id="14" name="Text 12"/>
          <p:cNvSpPr/>
          <p:nvPr/>
        </p:nvSpPr>
        <p:spPr>
          <a:xfrm>
            <a:off x="685800" y="393192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4/27 終値</a:t>
            </a:r>
            <a:endParaRPr lang="en-US" sz="1100" dirty="0"/>
          </a:p>
        </p:txBody>
      </p:sp>
      <p:sp>
        <p:nvSpPr>
          <p:cNvPr id="15" name="Text 13"/>
          <p:cNvSpPr/>
          <p:nvPr/>
        </p:nvSpPr>
        <p:spPr>
          <a:xfrm>
            <a:off x="3063240" y="3931920"/>
            <a:ext cx="1783080" cy="365760"/>
          </a:xfrm>
          <a:prstGeom prst="rect">
            <a:avLst/>
          </a:prstGeom>
          <a:noFill/>
          <a:ln/>
        </p:spPr>
        <p:txBody>
          <a:bodyPr wrap="square" lIns="0" tIns="0" rIns="0" bIns="0" rtlCol="0" anchor="ctr"/>
          <a:lstStyle/>
          <a:p>
            <a:pPr marL="0" indent="0" algn="r">
              <a:buNone/>
            </a:pPr>
            <a:r>
              <a:rPr lang="en-US" sz="1600" b="1" dirty="0">
                <a:solidFill>
                  <a:srgbClr val="10B981"/>
                </a:solidFill>
                <a:latin typeface="Calibri" pitchFamily="34" charset="0"/>
                <a:ea typeface="Calibri" pitchFamily="34" charset="-122"/>
                <a:cs typeface="Calibri" pitchFamily="34" charset="-120"/>
              </a:rPr>
              <a:t>60,537円</a:t>
            </a:r>
            <a:endParaRPr lang="en-US" sz="1600" dirty="0"/>
          </a:p>
        </p:txBody>
      </p:sp>
      <p:sp>
        <p:nvSpPr>
          <p:cNvPr id="16" name="Text 14"/>
          <p:cNvSpPr/>
          <p:nvPr/>
        </p:nvSpPr>
        <p:spPr>
          <a:xfrm>
            <a:off x="685800" y="5074920"/>
            <a:ext cx="4114800" cy="274320"/>
          </a:xfrm>
          <a:prstGeom prst="rect">
            <a:avLst/>
          </a:prstGeom>
          <a:noFill/>
          <a:ln/>
        </p:spPr>
        <p:txBody>
          <a:bodyPr wrap="square" lIns="0" tIns="0" rIns="0" bIns="0" rtlCol="0" anchor="ctr"/>
          <a:lstStyle/>
          <a:p>
            <a:pPr marL="0" indent="0">
              <a:buNone/>
            </a:pPr>
            <a:r>
              <a:rPr lang="en-US" sz="1100" b="1" kern="0" spc="400" dirty="0">
                <a:solidFill>
                  <a:srgbClr val="10B981"/>
                </a:solidFill>
                <a:latin typeface="Calibri" pitchFamily="34" charset="0"/>
                <a:ea typeface="Calibri" pitchFamily="34" charset="-122"/>
                <a:cs typeface="Calibri" pitchFamily="34" charset="-120"/>
              </a:rPr>
              <a:t>ポイント</a:t>
            </a:r>
            <a:endParaRPr lang="en-US" sz="1100" dirty="0"/>
          </a:p>
        </p:txBody>
      </p:sp>
      <p:sp>
        <p:nvSpPr>
          <p:cNvPr id="17" name="Text 15"/>
          <p:cNvSpPr/>
          <p:nvPr/>
        </p:nvSpPr>
        <p:spPr>
          <a:xfrm>
            <a:off x="685800" y="5349240"/>
            <a:ext cx="4206240" cy="73152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中東リスクの後退観測でショートカバーが加速。再びAI/半導体ストーリーが主役となり、終値ベースで初めて6万円台に到達した節目の月。</a:t>
            </a:r>
            <a:endParaRPr lang="en-US" sz="1100" dirty="0"/>
          </a:p>
        </p:txBody>
      </p:sp>
      <p:sp>
        <p:nvSpPr>
          <p:cNvPr id="18" name="Text 16"/>
          <p:cNvSpPr/>
          <p:nvPr/>
        </p:nvSpPr>
        <p:spPr>
          <a:xfrm>
            <a:off x="5303520" y="155448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主要ニュース</a:t>
            </a:r>
            <a:endParaRPr lang="en-US" sz="1400" dirty="0"/>
          </a:p>
        </p:txBody>
      </p:sp>
      <p:sp>
        <p:nvSpPr>
          <p:cNvPr id="19" name="Shape 17"/>
          <p:cNvSpPr/>
          <p:nvPr/>
        </p:nvSpPr>
        <p:spPr>
          <a:xfrm>
            <a:off x="5303520" y="196596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20" name="Text 18"/>
          <p:cNvSpPr/>
          <p:nvPr/>
        </p:nvSpPr>
        <p:spPr>
          <a:xfrm>
            <a:off x="5303520" y="196596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4月初旬</a:t>
            </a:r>
            <a:endParaRPr lang="en-US" sz="1100" dirty="0"/>
          </a:p>
        </p:txBody>
      </p:sp>
      <p:sp>
        <p:nvSpPr>
          <p:cNvPr id="21" name="Text 19"/>
          <p:cNvSpPr/>
          <p:nvPr/>
        </p:nvSpPr>
        <p:spPr>
          <a:xfrm>
            <a:off x="6400800" y="193852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海外投資家の買い戻しが鮮明に</a:t>
            </a:r>
            <a:endParaRPr lang="en-US" sz="1200" dirty="0"/>
          </a:p>
        </p:txBody>
      </p:sp>
      <p:sp>
        <p:nvSpPr>
          <p:cNvPr id="22" name="Text 20"/>
          <p:cNvSpPr/>
          <p:nvPr/>
        </p:nvSpPr>
        <p:spPr>
          <a:xfrm>
            <a:off x="6400800" y="224942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委託売買シェア68%(3月)→4月も海外勢主導の上昇局面が継続。</a:t>
            </a:r>
            <a:endParaRPr lang="en-US" sz="1000" dirty="0"/>
          </a:p>
        </p:txBody>
      </p:sp>
      <p:sp>
        <p:nvSpPr>
          <p:cNvPr id="23" name="Shape 21"/>
          <p:cNvSpPr/>
          <p:nvPr/>
        </p:nvSpPr>
        <p:spPr>
          <a:xfrm>
            <a:off x="5303520" y="2953512"/>
            <a:ext cx="6400800" cy="0"/>
          </a:xfrm>
          <a:prstGeom prst="line">
            <a:avLst/>
          </a:prstGeom>
          <a:noFill/>
          <a:ln w="6350">
            <a:solidFill>
              <a:srgbClr val="E2E8F0"/>
            </a:solidFill>
            <a:prstDash val="solid"/>
          </a:ln>
        </p:spPr>
        <p:txBody>
          <a:bodyPr/>
          <a:lstStyle/>
          <a:p>
            <a:endParaRPr lang="ja-JP" altLang="en-US"/>
          </a:p>
        </p:txBody>
      </p:sp>
      <p:sp>
        <p:nvSpPr>
          <p:cNvPr id="24" name="Shape 22"/>
          <p:cNvSpPr/>
          <p:nvPr/>
        </p:nvSpPr>
        <p:spPr>
          <a:xfrm>
            <a:off x="5303520" y="301752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25" name="Text 23"/>
          <p:cNvSpPr/>
          <p:nvPr/>
        </p:nvSpPr>
        <p:spPr>
          <a:xfrm>
            <a:off x="5303520" y="301752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4/16</a:t>
            </a:r>
            <a:endParaRPr lang="en-US" sz="1100" dirty="0"/>
          </a:p>
        </p:txBody>
      </p:sp>
      <p:sp>
        <p:nvSpPr>
          <p:cNvPr id="26" name="Text 24"/>
          <p:cNvSpPr/>
          <p:nvPr/>
        </p:nvSpPr>
        <p:spPr>
          <a:xfrm>
            <a:off x="6400800" y="299008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終値59,518円、米イラン和平観測で最高値更新</a:t>
            </a:r>
            <a:endParaRPr lang="en-US" sz="1200" dirty="0"/>
          </a:p>
        </p:txBody>
      </p:sp>
      <p:sp>
        <p:nvSpPr>
          <p:cNvPr id="27" name="Text 25"/>
          <p:cNvSpPr/>
          <p:nvPr/>
        </p:nvSpPr>
        <p:spPr>
          <a:xfrm>
            <a:off x="6400800" y="330098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停戦合意期待が高まり、リスク資産全般が買われる。</a:t>
            </a:r>
            <a:endParaRPr lang="en-US" sz="1000" dirty="0"/>
          </a:p>
        </p:txBody>
      </p:sp>
      <p:sp>
        <p:nvSpPr>
          <p:cNvPr id="28" name="Shape 26"/>
          <p:cNvSpPr/>
          <p:nvPr/>
        </p:nvSpPr>
        <p:spPr>
          <a:xfrm>
            <a:off x="5303520" y="4005072"/>
            <a:ext cx="6400800" cy="0"/>
          </a:xfrm>
          <a:prstGeom prst="line">
            <a:avLst/>
          </a:prstGeom>
          <a:noFill/>
          <a:ln w="6350">
            <a:solidFill>
              <a:srgbClr val="E2E8F0"/>
            </a:solidFill>
            <a:prstDash val="solid"/>
          </a:ln>
        </p:spPr>
        <p:txBody>
          <a:bodyPr/>
          <a:lstStyle/>
          <a:p>
            <a:endParaRPr lang="ja-JP" altLang="en-US"/>
          </a:p>
        </p:txBody>
      </p:sp>
      <p:sp>
        <p:nvSpPr>
          <p:cNvPr id="29" name="Shape 27"/>
          <p:cNvSpPr/>
          <p:nvPr/>
        </p:nvSpPr>
        <p:spPr>
          <a:xfrm>
            <a:off x="5303520" y="406908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30" name="Text 28"/>
          <p:cNvSpPr/>
          <p:nvPr/>
        </p:nvSpPr>
        <p:spPr>
          <a:xfrm>
            <a:off x="5303520" y="406908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4/22</a:t>
            </a:r>
            <a:endParaRPr lang="en-US" sz="1100" dirty="0"/>
          </a:p>
        </p:txBody>
      </p:sp>
      <p:sp>
        <p:nvSpPr>
          <p:cNvPr id="31" name="Text 29"/>
          <p:cNvSpPr/>
          <p:nvPr/>
        </p:nvSpPr>
        <p:spPr>
          <a:xfrm>
            <a:off x="6400800" y="404164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市場関係者から「7万円も視野」との声</a:t>
            </a:r>
            <a:endParaRPr lang="en-US" sz="1200" dirty="0"/>
          </a:p>
        </p:txBody>
      </p:sp>
      <p:sp>
        <p:nvSpPr>
          <p:cNvPr id="32" name="Text 30"/>
          <p:cNvSpPr/>
          <p:nvPr/>
        </p:nvSpPr>
        <p:spPr>
          <a:xfrm>
            <a:off x="6400800" y="435254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野村など各社が年末見通しを上方修正、上振れシナリオを提示。</a:t>
            </a:r>
            <a:endParaRPr lang="en-US" sz="1000" dirty="0"/>
          </a:p>
        </p:txBody>
      </p:sp>
      <p:sp>
        <p:nvSpPr>
          <p:cNvPr id="33" name="Shape 31"/>
          <p:cNvSpPr/>
          <p:nvPr/>
        </p:nvSpPr>
        <p:spPr>
          <a:xfrm>
            <a:off x="5303520" y="5056632"/>
            <a:ext cx="6400800" cy="0"/>
          </a:xfrm>
          <a:prstGeom prst="line">
            <a:avLst/>
          </a:prstGeom>
          <a:noFill/>
          <a:ln w="6350">
            <a:solidFill>
              <a:srgbClr val="E2E8F0"/>
            </a:solidFill>
            <a:prstDash val="solid"/>
          </a:ln>
        </p:spPr>
        <p:txBody>
          <a:bodyPr/>
          <a:lstStyle/>
          <a:p>
            <a:endParaRPr lang="ja-JP" altLang="en-US"/>
          </a:p>
        </p:txBody>
      </p:sp>
      <p:sp>
        <p:nvSpPr>
          <p:cNvPr id="34" name="Shape 32"/>
          <p:cNvSpPr/>
          <p:nvPr/>
        </p:nvSpPr>
        <p:spPr>
          <a:xfrm>
            <a:off x="5303520" y="5120640"/>
            <a:ext cx="960120" cy="457200"/>
          </a:xfrm>
          <a:prstGeom prst="rect">
            <a:avLst/>
          </a:prstGeom>
          <a:solidFill>
            <a:srgbClr val="10B981"/>
          </a:solidFill>
          <a:ln w="12700">
            <a:solidFill>
              <a:srgbClr val="10B981"/>
            </a:solidFill>
            <a:prstDash val="solid"/>
          </a:ln>
        </p:spPr>
        <p:txBody>
          <a:bodyPr/>
          <a:lstStyle/>
          <a:p>
            <a:endParaRPr lang="ja-JP" altLang="en-US"/>
          </a:p>
        </p:txBody>
      </p:sp>
      <p:sp>
        <p:nvSpPr>
          <p:cNvPr id="35" name="Text 33"/>
          <p:cNvSpPr/>
          <p:nvPr/>
        </p:nvSpPr>
        <p:spPr>
          <a:xfrm>
            <a:off x="5303520" y="512064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4/27</a:t>
            </a:r>
            <a:endParaRPr lang="en-US" sz="1100" dirty="0"/>
          </a:p>
        </p:txBody>
      </p:sp>
      <p:sp>
        <p:nvSpPr>
          <p:cNvPr id="36" name="Text 34"/>
          <p:cNvSpPr/>
          <p:nvPr/>
        </p:nvSpPr>
        <p:spPr>
          <a:xfrm>
            <a:off x="6400800" y="509320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終値60,537円、初の6万円台で取引終了</a:t>
            </a:r>
            <a:endParaRPr lang="en-US" sz="1200" dirty="0"/>
          </a:p>
        </p:txBody>
      </p:sp>
      <p:sp>
        <p:nvSpPr>
          <p:cNvPr id="37" name="Text 35"/>
          <p:cNvSpPr/>
          <p:nvPr/>
        </p:nvSpPr>
        <p:spPr>
          <a:xfrm>
            <a:off x="6400800" y="5404104"/>
            <a:ext cx="5303520" cy="68580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イランのホルムズ海峡開放提案報道で上げ幅拡大。</a:t>
            </a:r>
            <a:endParaRPr lang="en-US" sz="1000" dirty="0"/>
          </a:p>
        </p:txBody>
      </p:sp>
      <p:sp>
        <p:nvSpPr>
          <p:cNvPr id="38" name="Shape 36"/>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39" name="Text 37"/>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40" name="Text 38"/>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MAY 2026 (TO DATE)</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5月: 最高値更新の後、金利上昇で調整局面へ</a:t>
            </a:r>
            <a:endParaRPr lang="en-US" sz="2600" dirty="0"/>
          </a:p>
        </p:txBody>
      </p:sp>
      <p:sp>
        <p:nvSpPr>
          <p:cNvPr id="5" name="Shape 3"/>
          <p:cNvSpPr/>
          <p:nvPr/>
        </p:nvSpPr>
        <p:spPr>
          <a:xfrm>
            <a:off x="457200" y="1554480"/>
            <a:ext cx="4572000" cy="4572000"/>
          </a:xfrm>
          <a:prstGeom prst="rect">
            <a:avLst/>
          </a:prstGeom>
          <a:solidFill>
            <a:srgbClr val="F8FAFC"/>
          </a:solidFill>
          <a:ln w="6350">
            <a:solidFill>
              <a:srgbClr val="E2E8F0"/>
            </a:solidFill>
            <a:prstDash val="solid"/>
          </a:ln>
        </p:spPr>
        <p:txBody>
          <a:bodyPr/>
          <a:lstStyle/>
          <a:p>
            <a:endParaRPr lang="ja-JP" altLang="en-US"/>
          </a:p>
        </p:txBody>
      </p:sp>
      <p:sp>
        <p:nvSpPr>
          <p:cNvPr id="6" name="Shape 4"/>
          <p:cNvSpPr/>
          <p:nvPr/>
        </p:nvSpPr>
        <p:spPr>
          <a:xfrm>
            <a:off x="457200" y="1554480"/>
            <a:ext cx="73152" cy="4572000"/>
          </a:xfrm>
          <a:prstGeom prst="rect">
            <a:avLst/>
          </a:prstGeom>
          <a:solidFill>
            <a:srgbClr val="1E2761"/>
          </a:solidFill>
          <a:ln w="12700">
            <a:solidFill>
              <a:srgbClr val="1E2761"/>
            </a:solidFill>
            <a:prstDash val="solid"/>
          </a:ln>
        </p:spPr>
        <p:txBody>
          <a:bodyPr/>
          <a:lstStyle/>
          <a:p>
            <a:endParaRPr lang="ja-JP" altLang="en-US"/>
          </a:p>
        </p:txBody>
      </p:sp>
      <p:sp>
        <p:nvSpPr>
          <p:cNvPr id="7" name="Text 5"/>
          <p:cNvSpPr/>
          <p:nvPr/>
        </p:nvSpPr>
        <p:spPr>
          <a:xfrm>
            <a:off x="685800" y="1691640"/>
            <a:ext cx="4114800" cy="274320"/>
          </a:xfrm>
          <a:prstGeom prst="rect">
            <a:avLst/>
          </a:prstGeom>
          <a:noFill/>
          <a:ln/>
        </p:spPr>
        <p:txBody>
          <a:bodyPr wrap="square" lIns="0" tIns="0" rIns="0" bIns="0" rtlCol="0" anchor="ctr"/>
          <a:lstStyle/>
          <a:p>
            <a:pPr marL="0" indent="0">
              <a:buNone/>
            </a:pPr>
            <a:r>
              <a:rPr lang="en-US" sz="1100" b="1" kern="0" spc="400" dirty="0">
                <a:solidFill>
                  <a:srgbClr val="1E2761"/>
                </a:solidFill>
                <a:latin typeface="Calibri" pitchFamily="34" charset="0"/>
                <a:ea typeface="Calibri" pitchFamily="34" charset="-122"/>
                <a:cs typeface="Calibri" pitchFamily="34" charset="-120"/>
              </a:rPr>
              <a:t>概況</a:t>
            </a:r>
            <a:endParaRPr lang="en-US" sz="1100" dirty="0"/>
          </a:p>
        </p:txBody>
      </p:sp>
      <p:sp>
        <p:nvSpPr>
          <p:cNvPr id="8" name="Text 6"/>
          <p:cNvSpPr/>
          <p:nvPr/>
        </p:nvSpPr>
        <p:spPr>
          <a:xfrm>
            <a:off x="685800" y="1965960"/>
            <a:ext cx="4206240" cy="64008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5/7に+5.58%急騰し62,833円。その後はBOJ利上げ観測と長期金利上昇で続落。</a:t>
            </a:r>
            <a:endParaRPr lang="en-US" sz="1700" dirty="0"/>
          </a:p>
        </p:txBody>
      </p:sp>
      <p:sp>
        <p:nvSpPr>
          <p:cNvPr id="9" name="Shape 7"/>
          <p:cNvSpPr/>
          <p:nvPr/>
        </p:nvSpPr>
        <p:spPr>
          <a:xfrm>
            <a:off x="685800" y="2788920"/>
            <a:ext cx="4114800" cy="0"/>
          </a:xfrm>
          <a:prstGeom prst="line">
            <a:avLst/>
          </a:prstGeom>
          <a:noFill/>
          <a:ln w="9525">
            <a:solidFill>
              <a:srgbClr val="E2E8F0"/>
            </a:solidFill>
            <a:prstDash val="solid"/>
          </a:ln>
        </p:spPr>
        <p:txBody>
          <a:bodyPr/>
          <a:lstStyle/>
          <a:p>
            <a:endParaRPr lang="ja-JP" altLang="en-US"/>
          </a:p>
        </p:txBody>
      </p:sp>
      <p:sp>
        <p:nvSpPr>
          <p:cNvPr id="10" name="Text 8"/>
          <p:cNvSpPr/>
          <p:nvPr/>
        </p:nvSpPr>
        <p:spPr>
          <a:xfrm>
            <a:off x="685800" y="292608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5/7 終値 (最高値水準)</a:t>
            </a:r>
            <a:endParaRPr lang="en-US" sz="1100" dirty="0"/>
          </a:p>
        </p:txBody>
      </p:sp>
      <p:sp>
        <p:nvSpPr>
          <p:cNvPr id="11" name="Text 9"/>
          <p:cNvSpPr/>
          <p:nvPr/>
        </p:nvSpPr>
        <p:spPr>
          <a:xfrm>
            <a:off x="3063240" y="2926080"/>
            <a:ext cx="1783080" cy="365760"/>
          </a:xfrm>
          <a:prstGeom prst="rect">
            <a:avLst/>
          </a:prstGeom>
          <a:noFill/>
          <a:ln/>
        </p:spPr>
        <p:txBody>
          <a:bodyPr wrap="square" lIns="0" tIns="0" rIns="0" bIns="0" rtlCol="0" anchor="ctr"/>
          <a:lstStyle/>
          <a:p>
            <a:pPr marL="0" indent="0" algn="r">
              <a:buNone/>
            </a:pPr>
            <a:r>
              <a:rPr lang="en-US" sz="1600" b="1" dirty="0">
                <a:solidFill>
                  <a:srgbClr val="10B981"/>
                </a:solidFill>
                <a:latin typeface="Calibri" pitchFamily="34" charset="0"/>
                <a:ea typeface="Calibri" pitchFamily="34" charset="-122"/>
                <a:cs typeface="Calibri" pitchFamily="34" charset="-120"/>
              </a:rPr>
              <a:t>62,833円</a:t>
            </a:r>
            <a:endParaRPr lang="en-US" sz="1600" dirty="0"/>
          </a:p>
        </p:txBody>
      </p:sp>
      <p:sp>
        <p:nvSpPr>
          <p:cNvPr id="12" name="Text 10"/>
          <p:cNvSpPr/>
          <p:nvPr/>
        </p:nvSpPr>
        <p:spPr>
          <a:xfrm>
            <a:off x="685800" y="342900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5/15 終値</a:t>
            </a:r>
            <a:endParaRPr lang="en-US" sz="1100" dirty="0"/>
          </a:p>
        </p:txBody>
      </p:sp>
      <p:sp>
        <p:nvSpPr>
          <p:cNvPr id="13" name="Text 11"/>
          <p:cNvSpPr/>
          <p:nvPr/>
        </p:nvSpPr>
        <p:spPr>
          <a:xfrm>
            <a:off x="3063240" y="3429000"/>
            <a:ext cx="1783080" cy="365760"/>
          </a:xfrm>
          <a:prstGeom prst="rect">
            <a:avLst/>
          </a:prstGeom>
          <a:noFill/>
          <a:ln/>
        </p:spPr>
        <p:txBody>
          <a:bodyPr wrap="square" lIns="0" tIns="0" rIns="0" bIns="0"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61,409円</a:t>
            </a:r>
            <a:endParaRPr lang="en-US" sz="1600" dirty="0"/>
          </a:p>
        </p:txBody>
      </p:sp>
      <p:sp>
        <p:nvSpPr>
          <p:cNvPr id="14" name="Text 12"/>
          <p:cNvSpPr/>
          <p:nvPr/>
        </p:nvSpPr>
        <p:spPr>
          <a:xfrm>
            <a:off x="685800" y="3931920"/>
            <a:ext cx="237744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5/18 終値 (3日続落)</a:t>
            </a:r>
            <a:endParaRPr lang="en-US" sz="1100" dirty="0"/>
          </a:p>
        </p:txBody>
      </p:sp>
      <p:sp>
        <p:nvSpPr>
          <p:cNvPr id="15" name="Text 13"/>
          <p:cNvSpPr/>
          <p:nvPr/>
        </p:nvSpPr>
        <p:spPr>
          <a:xfrm>
            <a:off x="3063240" y="3931920"/>
            <a:ext cx="1783080" cy="365760"/>
          </a:xfrm>
          <a:prstGeom prst="rect">
            <a:avLst/>
          </a:prstGeom>
          <a:noFill/>
          <a:ln/>
        </p:spPr>
        <p:txBody>
          <a:bodyPr wrap="square" lIns="0" tIns="0" rIns="0" bIns="0" rtlCol="0" anchor="ctr"/>
          <a:lstStyle/>
          <a:p>
            <a:pPr marL="0" indent="0" algn="r">
              <a:buNone/>
            </a:pPr>
            <a:r>
              <a:rPr lang="en-US" sz="1600" b="1" dirty="0">
                <a:solidFill>
                  <a:srgbClr val="F96167"/>
                </a:solidFill>
                <a:latin typeface="Calibri" pitchFamily="34" charset="0"/>
                <a:ea typeface="Calibri" pitchFamily="34" charset="-122"/>
                <a:cs typeface="Calibri" pitchFamily="34" charset="-120"/>
              </a:rPr>
              <a:t>60,816円</a:t>
            </a:r>
            <a:endParaRPr lang="en-US" sz="1600" dirty="0"/>
          </a:p>
        </p:txBody>
      </p:sp>
      <p:sp>
        <p:nvSpPr>
          <p:cNvPr id="16" name="Text 14"/>
          <p:cNvSpPr/>
          <p:nvPr/>
        </p:nvSpPr>
        <p:spPr>
          <a:xfrm>
            <a:off x="685800" y="5074920"/>
            <a:ext cx="4114800" cy="274320"/>
          </a:xfrm>
          <a:prstGeom prst="rect">
            <a:avLst/>
          </a:prstGeom>
          <a:noFill/>
          <a:ln/>
        </p:spPr>
        <p:txBody>
          <a:bodyPr wrap="square" lIns="0" tIns="0" rIns="0" bIns="0" rtlCol="0" anchor="ctr"/>
          <a:lstStyle/>
          <a:p>
            <a:pPr marL="0" indent="0">
              <a:buNone/>
            </a:pPr>
            <a:r>
              <a:rPr lang="en-US" sz="1100" b="1" kern="0" spc="400" dirty="0">
                <a:solidFill>
                  <a:srgbClr val="1E2761"/>
                </a:solidFill>
                <a:latin typeface="Calibri" pitchFamily="34" charset="0"/>
                <a:ea typeface="Calibri" pitchFamily="34" charset="-122"/>
                <a:cs typeface="Calibri" pitchFamily="34" charset="-120"/>
              </a:rPr>
              <a:t>ポイント</a:t>
            </a:r>
            <a:endParaRPr lang="en-US" sz="1100" dirty="0"/>
          </a:p>
        </p:txBody>
      </p:sp>
      <p:sp>
        <p:nvSpPr>
          <p:cNvPr id="17" name="Text 15"/>
          <p:cNvSpPr/>
          <p:nvPr/>
        </p:nvSpPr>
        <p:spPr>
          <a:xfrm>
            <a:off x="685800" y="5349240"/>
            <a:ext cx="4206240" cy="73152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停戦合意観測でピークアウト感→金利上昇とAI関連の利益確定売りで反落。次の焦点は日銀の追加利上げ判断と決算シーズン後半。</a:t>
            </a:r>
            <a:endParaRPr lang="en-US" sz="1100" dirty="0"/>
          </a:p>
        </p:txBody>
      </p:sp>
      <p:sp>
        <p:nvSpPr>
          <p:cNvPr id="18" name="Text 16"/>
          <p:cNvSpPr/>
          <p:nvPr/>
        </p:nvSpPr>
        <p:spPr>
          <a:xfrm>
            <a:off x="5303520" y="1554480"/>
            <a:ext cx="64008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主要ニュース</a:t>
            </a:r>
            <a:endParaRPr lang="en-US" sz="1400" dirty="0"/>
          </a:p>
        </p:txBody>
      </p:sp>
      <p:sp>
        <p:nvSpPr>
          <p:cNvPr id="19" name="Shape 17"/>
          <p:cNvSpPr/>
          <p:nvPr/>
        </p:nvSpPr>
        <p:spPr>
          <a:xfrm>
            <a:off x="5303520" y="1965960"/>
            <a:ext cx="960120" cy="457200"/>
          </a:xfrm>
          <a:prstGeom prst="rect">
            <a:avLst/>
          </a:prstGeom>
          <a:solidFill>
            <a:srgbClr val="1E2761"/>
          </a:solidFill>
          <a:ln w="12700">
            <a:solidFill>
              <a:srgbClr val="1E2761"/>
            </a:solidFill>
            <a:prstDash val="solid"/>
          </a:ln>
        </p:spPr>
        <p:txBody>
          <a:bodyPr/>
          <a:lstStyle/>
          <a:p>
            <a:endParaRPr lang="ja-JP" altLang="en-US"/>
          </a:p>
        </p:txBody>
      </p:sp>
      <p:sp>
        <p:nvSpPr>
          <p:cNvPr id="20" name="Text 18"/>
          <p:cNvSpPr/>
          <p:nvPr/>
        </p:nvSpPr>
        <p:spPr>
          <a:xfrm>
            <a:off x="5303520" y="1965960"/>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5/7</a:t>
            </a:r>
            <a:endParaRPr lang="en-US" sz="1100" dirty="0"/>
          </a:p>
        </p:txBody>
      </p:sp>
      <p:sp>
        <p:nvSpPr>
          <p:cNvPr id="21" name="Text 19"/>
          <p:cNvSpPr/>
          <p:nvPr/>
        </p:nvSpPr>
        <p:spPr>
          <a:xfrm>
            <a:off x="6400800" y="1938528"/>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終値62,833円、前営業日比+5.58%の急騰</a:t>
            </a:r>
            <a:endParaRPr lang="en-US" sz="1200" dirty="0"/>
          </a:p>
        </p:txBody>
      </p:sp>
      <p:sp>
        <p:nvSpPr>
          <p:cNvPr id="22" name="Text 20"/>
          <p:cNvSpPr/>
          <p:nvPr/>
        </p:nvSpPr>
        <p:spPr>
          <a:xfrm>
            <a:off x="6400800" y="2249424"/>
            <a:ext cx="5303520" cy="47548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米イラン戦闘終結覚書での合意接近を好感、GW明けに買い殺到。</a:t>
            </a:r>
            <a:endParaRPr lang="en-US" sz="1000" dirty="0"/>
          </a:p>
        </p:txBody>
      </p:sp>
      <p:sp>
        <p:nvSpPr>
          <p:cNvPr id="23" name="Shape 21"/>
          <p:cNvSpPr/>
          <p:nvPr/>
        </p:nvSpPr>
        <p:spPr>
          <a:xfrm>
            <a:off x="5303520" y="2743200"/>
            <a:ext cx="6400800" cy="0"/>
          </a:xfrm>
          <a:prstGeom prst="line">
            <a:avLst/>
          </a:prstGeom>
          <a:noFill/>
          <a:ln w="6350">
            <a:solidFill>
              <a:srgbClr val="E2E8F0"/>
            </a:solidFill>
            <a:prstDash val="solid"/>
          </a:ln>
        </p:spPr>
        <p:txBody>
          <a:bodyPr/>
          <a:lstStyle/>
          <a:p>
            <a:endParaRPr lang="ja-JP" altLang="en-US"/>
          </a:p>
        </p:txBody>
      </p:sp>
      <p:sp>
        <p:nvSpPr>
          <p:cNvPr id="24" name="Shape 22"/>
          <p:cNvSpPr/>
          <p:nvPr/>
        </p:nvSpPr>
        <p:spPr>
          <a:xfrm>
            <a:off x="5303520" y="2807208"/>
            <a:ext cx="960120" cy="457200"/>
          </a:xfrm>
          <a:prstGeom prst="rect">
            <a:avLst/>
          </a:prstGeom>
          <a:solidFill>
            <a:srgbClr val="1E2761"/>
          </a:solidFill>
          <a:ln w="12700">
            <a:solidFill>
              <a:srgbClr val="1E2761"/>
            </a:solidFill>
            <a:prstDash val="solid"/>
          </a:ln>
        </p:spPr>
        <p:txBody>
          <a:bodyPr/>
          <a:lstStyle/>
          <a:p>
            <a:endParaRPr lang="ja-JP" altLang="en-US"/>
          </a:p>
        </p:txBody>
      </p:sp>
      <p:sp>
        <p:nvSpPr>
          <p:cNvPr id="25" name="Text 23"/>
          <p:cNvSpPr/>
          <p:nvPr/>
        </p:nvSpPr>
        <p:spPr>
          <a:xfrm>
            <a:off x="5303520" y="2807208"/>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5/11</a:t>
            </a:r>
            <a:endParaRPr lang="en-US" sz="1100" dirty="0"/>
          </a:p>
        </p:txBody>
      </p:sp>
      <p:sp>
        <p:nvSpPr>
          <p:cNvPr id="26" name="Text 24"/>
          <p:cNvSpPr/>
          <p:nvPr/>
        </p:nvSpPr>
        <p:spPr>
          <a:xfrm>
            <a:off x="6400800" y="2779776"/>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終値62,417円 (-295円)、続落</a:t>
            </a:r>
            <a:endParaRPr lang="en-US" sz="1200" dirty="0"/>
          </a:p>
        </p:txBody>
      </p:sp>
      <p:sp>
        <p:nvSpPr>
          <p:cNvPr id="27" name="Text 25"/>
          <p:cNvSpPr/>
          <p:nvPr/>
        </p:nvSpPr>
        <p:spPr>
          <a:xfrm>
            <a:off x="6400800" y="3090672"/>
            <a:ext cx="5303520" cy="47548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金利上昇への警戒、ソフトバンクG・東エレクなど売られる。</a:t>
            </a:r>
            <a:endParaRPr lang="en-US" sz="1000" dirty="0"/>
          </a:p>
        </p:txBody>
      </p:sp>
      <p:sp>
        <p:nvSpPr>
          <p:cNvPr id="28" name="Shape 26"/>
          <p:cNvSpPr/>
          <p:nvPr/>
        </p:nvSpPr>
        <p:spPr>
          <a:xfrm>
            <a:off x="5303520" y="3584448"/>
            <a:ext cx="6400800" cy="0"/>
          </a:xfrm>
          <a:prstGeom prst="line">
            <a:avLst/>
          </a:prstGeom>
          <a:noFill/>
          <a:ln w="6350">
            <a:solidFill>
              <a:srgbClr val="E2E8F0"/>
            </a:solidFill>
            <a:prstDash val="solid"/>
          </a:ln>
        </p:spPr>
        <p:txBody>
          <a:bodyPr/>
          <a:lstStyle/>
          <a:p>
            <a:endParaRPr lang="ja-JP" altLang="en-US"/>
          </a:p>
        </p:txBody>
      </p:sp>
      <p:sp>
        <p:nvSpPr>
          <p:cNvPr id="29" name="Shape 27"/>
          <p:cNvSpPr/>
          <p:nvPr/>
        </p:nvSpPr>
        <p:spPr>
          <a:xfrm>
            <a:off x="5303520" y="3648456"/>
            <a:ext cx="960120" cy="457200"/>
          </a:xfrm>
          <a:prstGeom prst="rect">
            <a:avLst/>
          </a:prstGeom>
          <a:solidFill>
            <a:srgbClr val="1E2761"/>
          </a:solidFill>
          <a:ln w="12700">
            <a:solidFill>
              <a:srgbClr val="1E2761"/>
            </a:solidFill>
            <a:prstDash val="solid"/>
          </a:ln>
        </p:spPr>
        <p:txBody>
          <a:bodyPr/>
          <a:lstStyle/>
          <a:p>
            <a:endParaRPr lang="ja-JP" altLang="en-US"/>
          </a:p>
        </p:txBody>
      </p:sp>
      <p:sp>
        <p:nvSpPr>
          <p:cNvPr id="30" name="Text 28"/>
          <p:cNvSpPr/>
          <p:nvPr/>
        </p:nvSpPr>
        <p:spPr>
          <a:xfrm>
            <a:off x="5303520" y="3648456"/>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5/14</a:t>
            </a:r>
            <a:endParaRPr lang="en-US" sz="1100" dirty="0"/>
          </a:p>
        </p:txBody>
      </p:sp>
      <p:sp>
        <p:nvSpPr>
          <p:cNvPr id="31" name="Text 29"/>
          <p:cNvSpPr/>
          <p:nvPr/>
        </p:nvSpPr>
        <p:spPr>
          <a:xfrm>
            <a:off x="6400800" y="3621024"/>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終値62,654円 (-618円)、3日ぶり反落</a:t>
            </a:r>
            <a:endParaRPr lang="en-US" sz="1200" dirty="0"/>
          </a:p>
        </p:txBody>
      </p:sp>
      <p:sp>
        <p:nvSpPr>
          <p:cNvPr id="32" name="Text 30"/>
          <p:cNvSpPr/>
          <p:nvPr/>
        </p:nvSpPr>
        <p:spPr>
          <a:xfrm>
            <a:off x="6400800" y="3931920"/>
            <a:ext cx="5303520" cy="47548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アドテスト等が金利上昇懸念を映して下落。</a:t>
            </a:r>
            <a:endParaRPr lang="en-US" sz="1000" dirty="0"/>
          </a:p>
        </p:txBody>
      </p:sp>
      <p:sp>
        <p:nvSpPr>
          <p:cNvPr id="33" name="Shape 31"/>
          <p:cNvSpPr/>
          <p:nvPr/>
        </p:nvSpPr>
        <p:spPr>
          <a:xfrm>
            <a:off x="5303520" y="4425696"/>
            <a:ext cx="6400800" cy="0"/>
          </a:xfrm>
          <a:prstGeom prst="line">
            <a:avLst/>
          </a:prstGeom>
          <a:noFill/>
          <a:ln w="6350">
            <a:solidFill>
              <a:srgbClr val="E2E8F0"/>
            </a:solidFill>
            <a:prstDash val="solid"/>
          </a:ln>
        </p:spPr>
        <p:txBody>
          <a:bodyPr/>
          <a:lstStyle/>
          <a:p>
            <a:endParaRPr lang="ja-JP" altLang="en-US"/>
          </a:p>
        </p:txBody>
      </p:sp>
      <p:sp>
        <p:nvSpPr>
          <p:cNvPr id="34" name="Shape 32"/>
          <p:cNvSpPr/>
          <p:nvPr/>
        </p:nvSpPr>
        <p:spPr>
          <a:xfrm>
            <a:off x="5303520" y="4489704"/>
            <a:ext cx="960120" cy="457200"/>
          </a:xfrm>
          <a:prstGeom prst="rect">
            <a:avLst/>
          </a:prstGeom>
          <a:solidFill>
            <a:srgbClr val="1E2761"/>
          </a:solidFill>
          <a:ln w="12700">
            <a:solidFill>
              <a:srgbClr val="1E2761"/>
            </a:solidFill>
            <a:prstDash val="solid"/>
          </a:ln>
        </p:spPr>
        <p:txBody>
          <a:bodyPr/>
          <a:lstStyle/>
          <a:p>
            <a:endParaRPr lang="ja-JP" altLang="en-US"/>
          </a:p>
        </p:txBody>
      </p:sp>
      <p:sp>
        <p:nvSpPr>
          <p:cNvPr id="35" name="Text 33"/>
          <p:cNvSpPr/>
          <p:nvPr/>
        </p:nvSpPr>
        <p:spPr>
          <a:xfrm>
            <a:off x="5303520" y="4489704"/>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5/15</a:t>
            </a:r>
            <a:endParaRPr lang="en-US" sz="1100" dirty="0"/>
          </a:p>
        </p:txBody>
      </p:sp>
      <p:sp>
        <p:nvSpPr>
          <p:cNvPr id="36" name="Text 34"/>
          <p:cNvSpPr/>
          <p:nvPr/>
        </p:nvSpPr>
        <p:spPr>
          <a:xfrm>
            <a:off x="6400800" y="4462272"/>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終値61,409円 (-1.99%)、ホルムズ懸念再燃</a:t>
            </a:r>
            <a:endParaRPr lang="en-US" sz="1200" dirty="0"/>
          </a:p>
        </p:txBody>
      </p:sp>
      <p:sp>
        <p:nvSpPr>
          <p:cNvPr id="37" name="Text 35"/>
          <p:cNvSpPr/>
          <p:nvPr/>
        </p:nvSpPr>
        <p:spPr>
          <a:xfrm>
            <a:off x="6400800" y="4773168"/>
            <a:ext cx="5303520" cy="47548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BOJ利上げ観測も重荷、AI/半導体株でリスク回避の売り。</a:t>
            </a:r>
            <a:endParaRPr lang="en-US" sz="1000" dirty="0"/>
          </a:p>
        </p:txBody>
      </p:sp>
      <p:sp>
        <p:nvSpPr>
          <p:cNvPr id="38" name="Shape 36"/>
          <p:cNvSpPr/>
          <p:nvPr/>
        </p:nvSpPr>
        <p:spPr>
          <a:xfrm>
            <a:off x="5303520" y="5266944"/>
            <a:ext cx="6400800" cy="0"/>
          </a:xfrm>
          <a:prstGeom prst="line">
            <a:avLst/>
          </a:prstGeom>
          <a:noFill/>
          <a:ln w="6350">
            <a:solidFill>
              <a:srgbClr val="E2E8F0"/>
            </a:solidFill>
            <a:prstDash val="solid"/>
          </a:ln>
        </p:spPr>
        <p:txBody>
          <a:bodyPr/>
          <a:lstStyle/>
          <a:p>
            <a:endParaRPr lang="ja-JP" altLang="en-US"/>
          </a:p>
        </p:txBody>
      </p:sp>
      <p:sp>
        <p:nvSpPr>
          <p:cNvPr id="39" name="Shape 37"/>
          <p:cNvSpPr/>
          <p:nvPr/>
        </p:nvSpPr>
        <p:spPr>
          <a:xfrm>
            <a:off x="5303520" y="5330952"/>
            <a:ext cx="960120" cy="457200"/>
          </a:xfrm>
          <a:prstGeom prst="rect">
            <a:avLst/>
          </a:prstGeom>
          <a:solidFill>
            <a:srgbClr val="1E2761"/>
          </a:solidFill>
          <a:ln w="12700">
            <a:solidFill>
              <a:srgbClr val="1E2761"/>
            </a:solidFill>
            <a:prstDash val="solid"/>
          </a:ln>
        </p:spPr>
        <p:txBody>
          <a:bodyPr/>
          <a:lstStyle/>
          <a:p>
            <a:endParaRPr lang="ja-JP" altLang="en-US"/>
          </a:p>
        </p:txBody>
      </p:sp>
      <p:sp>
        <p:nvSpPr>
          <p:cNvPr id="40" name="Text 38"/>
          <p:cNvSpPr/>
          <p:nvPr/>
        </p:nvSpPr>
        <p:spPr>
          <a:xfrm>
            <a:off x="5303520" y="5330952"/>
            <a:ext cx="9601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5/18</a:t>
            </a:r>
            <a:endParaRPr lang="en-US" sz="1100" dirty="0"/>
          </a:p>
        </p:txBody>
      </p:sp>
      <p:sp>
        <p:nvSpPr>
          <p:cNvPr id="41" name="Text 39"/>
          <p:cNvSpPr/>
          <p:nvPr/>
        </p:nvSpPr>
        <p:spPr>
          <a:xfrm>
            <a:off x="6400800" y="5303520"/>
            <a:ext cx="5303520" cy="32004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終値60,816円 (-593円)、3営業日続落</a:t>
            </a:r>
            <a:endParaRPr lang="en-US" sz="1200" dirty="0"/>
          </a:p>
        </p:txBody>
      </p:sp>
      <p:sp>
        <p:nvSpPr>
          <p:cNvPr id="42" name="Text 40"/>
          <p:cNvSpPr/>
          <p:nvPr/>
        </p:nvSpPr>
        <p:spPr>
          <a:xfrm>
            <a:off x="6400800" y="5614416"/>
            <a:ext cx="5303520" cy="47548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国内長期金利の一段上昇、株式の相対的割高感が意識される。</a:t>
            </a:r>
            <a:endParaRPr lang="en-US" sz="1000" dirty="0"/>
          </a:p>
        </p:txBody>
      </p:sp>
      <p:sp>
        <p:nvSpPr>
          <p:cNvPr id="43" name="Shape 41"/>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44" name="Text 42"/>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45" name="Text 43"/>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57200"/>
            <a:ext cx="73152" cy="868680"/>
          </a:xfrm>
          <a:prstGeom prst="rect">
            <a:avLst/>
          </a:prstGeom>
          <a:solidFill>
            <a:srgbClr val="1E2761"/>
          </a:solidFill>
          <a:ln w="12700">
            <a:solidFill>
              <a:srgbClr val="1E2761"/>
            </a:solidFill>
            <a:prstDash val="solid"/>
          </a:ln>
        </p:spPr>
        <p:txBody>
          <a:bodyPr/>
          <a:lstStyle/>
          <a:p>
            <a:endParaRPr lang="ja-JP" altLang="en-US"/>
          </a:p>
        </p:txBody>
      </p:sp>
      <p:sp>
        <p:nvSpPr>
          <p:cNvPr id="3" name="Text 1"/>
          <p:cNvSpPr/>
          <p:nvPr/>
        </p:nvSpPr>
        <p:spPr>
          <a:xfrm>
            <a:off x="685800" y="457200"/>
            <a:ext cx="9144000" cy="292608"/>
          </a:xfrm>
          <a:prstGeom prst="rect">
            <a:avLst/>
          </a:prstGeom>
          <a:noFill/>
          <a:ln/>
        </p:spPr>
        <p:txBody>
          <a:bodyPr wrap="square" lIns="0" tIns="0" rIns="0" bIns="0" rtlCol="0" anchor="ctr"/>
          <a:lstStyle/>
          <a:p>
            <a:pPr marL="0" indent="0">
              <a:buNone/>
            </a:pPr>
            <a:r>
              <a:rPr lang="en-US" sz="1100" b="1" kern="0" spc="400" dirty="0">
                <a:solidFill>
                  <a:srgbClr val="F96167"/>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685800" y="749808"/>
            <a:ext cx="10515600" cy="640080"/>
          </a:xfrm>
          <a:prstGeom prst="rect">
            <a:avLst/>
          </a:prstGeom>
          <a:noFill/>
          <a:ln/>
        </p:spPr>
        <p:txBody>
          <a:bodyPr wrap="square" lIns="0" tIns="0" rIns="0" bIns="0" rtlCol="0" anchor="ctr"/>
          <a:lstStyle/>
          <a:p>
            <a:pPr marL="0" indent="0">
              <a:buNone/>
            </a:pPr>
            <a:r>
              <a:rPr lang="en-US" sz="2600" b="1" dirty="0">
                <a:solidFill>
                  <a:srgbClr val="1E2761"/>
                </a:solidFill>
                <a:latin typeface="Calibri" pitchFamily="34" charset="0"/>
                <a:ea typeface="Calibri" pitchFamily="34" charset="-122"/>
                <a:cs typeface="Calibri" pitchFamily="34" charset="-120"/>
              </a:rPr>
              <a:t>出典 / 注記</a:t>
            </a:r>
            <a:endParaRPr lang="en-US" sz="2600" dirty="0"/>
          </a:p>
        </p:txBody>
      </p:sp>
      <p:sp>
        <p:nvSpPr>
          <p:cNvPr id="5" name="Text 3"/>
          <p:cNvSpPr/>
          <p:nvPr/>
        </p:nvSpPr>
        <p:spPr>
          <a:xfrm>
            <a:off x="457200" y="1554480"/>
            <a:ext cx="1124712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データソース</a:t>
            </a:r>
            <a:endParaRPr lang="en-US" sz="1300" dirty="0"/>
          </a:p>
        </p:txBody>
      </p:sp>
      <p:sp>
        <p:nvSpPr>
          <p:cNvPr id="6" name="Text 4"/>
          <p:cNvSpPr/>
          <p:nvPr/>
        </p:nvSpPr>
        <p:spPr>
          <a:xfrm>
            <a:off x="640080" y="1874520"/>
            <a:ext cx="10972800" cy="201168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日本経済新聞 (nikkei.com): 日経平均株価のリアルタイム推移、各種マーケット記事</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Yahoo!ファイナンス (finance.yahoo.co.jp): 日経平均株価の時系列データ</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SBI証券 投資情報メディア: 2026年見通しおよび週間レポート</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野村ウェルスタイル (nomura.co.jp): 日経平均株価見通し改訂レポート</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三井住友DSアセットマネジメント: 月次マーケット振り返り (2026年4月)</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第一生命経済研究所: 半導体市況とAI需要に関するレポート</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BBN Times / Capital Street FX 等: 英語圏のNikkei 225週次レビュー</a:t>
            </a:r>
            <a:endParaRPr lang="en-US" sz="1100" dirty="0"/>
          </a:p>
        </p:txBody>
      </p:sp>
      <p:sp>
        <p:nvSpPr>
          <p:cNvPr id="7" name="Text 5"/>
          <p:cNvSpPr/>
          <p:nvPr/>
        </p:nvSpPr>
        <p:spPr>
          <a:xfrm>
            <a:off x="457200" y="4023360"/>
            <a:ext cx="1124712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注記</a:t>
            </a:r>
            <a:endParaRPr lang="en-US" sz="1300" dirty="0"/>
          </a:p>
        </p:txBody>
      </p:sp>
      <p:sp>
        <p:nvSpPr>
          <p:cNvPr id="8" name="Text 6"/>
          <p:cNvSpPr/>
          <p:nvPr/>
        </p:nvSpPr>
        <p:spPr>
          <a:xfrm>
            <a:off x="640080" y="4343400"/>
            <a:ext cx="1097280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本資料の価格は主要報道日の終値に基づく近似値です。連続データではなく、報道記事ベースで再構成しています。</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年初来パフォーマンスは「5/18終値 ÷ 2025年末終値 (50,339円)」の単純騰落率です。</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本資料は社内共有・議論用のサマリーであり、特定の投資勧誘や売買推奨を目的としたものではありません。</a:t>
            </a:r>
            <a:endParaRPr lang="en-US" sz="1100" dirty="0"/>
          </a:p>
          <a:p>
            <a:pPr marL="342900" indent="-342900">
              <a:spcAft>
                <a:spcPts val="400"/>
              </a:spcAft>
              <a:buSzPct val="100000"/>
              <a:buChar char="•"/>
            </a:pPr>
            <a:r>
              <a:rPr lang="en-US" sz="1100" dirty="0">
                <a:solidFill>
                  <a:srgbClr val="1F2937"/>
                </a:solidFill>
                <a:latin typeface="Calibri" pitchFamily="34" charset="0"/>
                <a:ea typeface="Calibri" pitchFamily="34" charset="-122"/>
                <a:cs typeface="Calibri" pitchFamily="34" charset="-120"/>
              </a:rPr>
              <a:t>為替・金利・地政学イベントは執筆時点 (2026年5月18日) の報道に基づきます。最新の情報をご確認ください。</a:t>
            </a:r>
            <a:endParaRPr lang="en-US" sz="1100" dirty="0"/>
          </a:p>
        </p:txBody>
      </p:sp>
      <p:sp>
        <p:nvSpPr>
          <p:cNvPr id="9" name="Shape 7"/>
          <p:cNvSpPr/>
          <p:nvPr/>
        </p:nvSpPr>
        <p:spPr>
          <a:xfrm>
            <a:off x="457200" y="6446520"/>
            <a:ext cx="11247120" cy="0"/>
          </a:xfrm>
          <a:prstGeom prst="line">
            <a:avLst/>
          </a:prstGeom>
          <a:noFill/>
          <a:ln w="6350">
            <a:solidFill>
              <a:srgbClr val="E2E8F0"/>
            </a:solidFill>
            <a:prstDash val="solid"/>
          </a:ln>
        </p:spPr>
        <p:txBody>
          <a:bodyPr/>
          <a:lstStyle/>
          <a:p>
            <a:endParaRPr lang="ja-JP" altLang="en-US"/>
          </a:p>
        </p:txBody>
      </p:sp>
      <p:sp>
        <p:nvSpPr>
          <p:cNvPr id="10" name="Text 8"/>
          <p:cNvSpPr/>
          <p:nvPr/>
        </p:nvSpPr>
        <p:spPr>
          <a:xfrm>
            <a:off x="457200" y="6492240"/>
            <a:ext cx="73152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2026年 日経平均株価の推移と主要ニュース</a:t>
            </a:r>
            <a:endParaRPr lang="en-US" sz="900" dirty="0"/>
          </a:p>
        </p:txBody>
      </p:sp>
      <p:sp>
        <p:nvSpPr>
          <p:cNvPr id="11" name="Text 9"/>
          <p:cNvSpPr/>
          <p:nvPr/>
        </p:nvSpPr>
        <p:spPr>
          <a:xfrm>
            <a:off x="10515600" y="6492240"/>
            <a:ext cx="118872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869</Words>
  <Application>Microsoft Office PowerPoint</Application>
  <PresentationFormat>ワイド画面</PresentationFormat>
  <Paragraphs>219</Paragraphs>
  <Slides>9</Slides>
  <Notes>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9</vt:i4>
      </vt:variant>
    </vt:vector>
  </HeadingPairs>
  <TitlesOfParts>
    <vt:vector size="12"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 日経平均株価の推移と主要ニュース</dc:title>
  <dc:subject>PptxGenJS Presentation</dc:subject>
  <dc:creator>Yuji</dc:creator>
  <cp:lastModifiedBy>裕二 長濱</cp:lastModifiedBy>
  <cp:revision>1</cp:revision>
  <dcterms:created xsi:type="dcterms:W3CDTF">2026-05-18T11:02:35Z</dcterms:created>
  <dcterms:modified xsi:type="dcterms:W3CDTF">2026-05-18T11:42:43Z</dcterms:modified>
</cp:coreProperties>
</file>