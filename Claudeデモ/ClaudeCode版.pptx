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日経平均株価</c:v>
                </c:pt>
              </c:strCache>
            </c:strRef>
          </c:tx>
          <c:spPr>
            <a:solidFill>
              <a:srgbClr val="E0B84C"/>
            </a:solidFill>
            <a:ln w="34925" cap="flat">
              <a:solidFill>
                <a:srgbClr val="E0B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0B84C"/>
              </a:solidFill>
              <a:ln w="12700" cap="flat">
                <a:solidFill>
                  <a:srgbClr val="E0B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1/5</c:v>
                  </c:pt>
                  <c:pt idx="1">
                    <c:v>1/8</c:v>
                  </c:pt>
                  <c:pt idx="2">
                    <c:v>1/14</c:v>
                  </c:pt>
                  <c:pt idx="3">
                    <c:v>1/30</c:v>
                  </c:pt>
                  <c:pt idx="4">
                    <c:v>2/3</c:v>
                  </c:pt>
                  <c:pt idx="5">
                    <c:v>2/13</c:v>
                  </c:pt>
                  <c:pt idx="6">
                    <c:v>2/27</c:v>
                  </c:pt>
                  <c:pt idx="7">
                    <c:v>3/2</c:v>
                  </c:pt>
                  <c:pt idx="8">
                    <c:v>3/9</c:v>
                  </c:pt>
                  <c:pt idx="9">
                    <c:v>3/23</c:v>
                  </c:pt>
                  <c:pt idx="10">
                    <c:v>3/30</c:v>
                  </c:pt>
                  <c:pt idx="11">
                    <c:v>4/2</c:v>
                  </c:pt>
                  <c:pt idx="12">
                    <c:v>4/15</c:v>
                  </c:pt>
                  <c:pt idx="13">
                    <c:v>4/27</c:v>
                  </c:pt>
                  <c:pt idx="14">
                    <c:v>4/28</c:v>
                  </c:pt>
                  <c:pt idx="15">
                    <c:v>5/7</c:v>
                  </c:pt>
                  <c:pt idx="16">
                    <c:v>5/13</c:v>
                  </c:pt>
                  <c:pt idx="17">
                    <c:v>5/15</c:v>
                  </c:pt>
                  <c:pt idx="18">
                    <c:v>5/18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51832</c:v>
                </c:pt>
                <c:pt idx="1">
                  <c:v>51117</c:v>
                </c:pt>
                <c:pt idx="2">
                  <c:v>54341</c:v>
                </c:pt>
                <c:pt idx="3">
                  <c:v>53323</c:v>
                </c:pt>
                <c:pt idx="4">
                  <c:v>55975</c:v>
                </c:pt>
                <c:pt idx="5">
                  <c:v>57200</c:v>
                </c:pt>
                <c:pt idx="6">
                  <c:v>58850</c:v>
                </c:pt>
                <c:pt idx="7">
                  <c:v>58057</c:v>
                </c:pt>
                <c:pt idx="8">
                  <c:v>54300</c:v>
                </c:pt>
                <c:pt idx="9">
                  <c:v>51515</c:v>
                </c:pt>
                <c:pt idx="10">
                  <c:v>51886</c:v>
                </c:pt>
                <c:pt idx="11">
                  <c:v>52463</c:v>
                </c:pt>
                <c:pt idx="12">
                  <c:v>56600</c:v>
                </c:pt>
                <c:pt idx="13">
                  <c:v>60537</c:v>
                </c:pt>
                <c:pt idx="14">
                  <c:v>59917</c:v>
                </c:pt>
                <c:pt idx="15">
                  <c:v>62833</c:v>
                </c:pt>
                <c:pt idx="16">
                  <c:v>63272</c:v>
                </c:pt>
                <c:pt idx="17">
                  <c:v>61409</c:v>
                </c:pt>
                <c:pt idx="18">
                  <c:v>60816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8CEDA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478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000"/>
          <c:min val="48000"/>
        </c:scaling>
        <c:delete val="0"/>
        <c:axPos val="l"/>
        <c:majorGridlines>
          <c:spPr>
            <a:ln w="6350" cap="flat">
              <a:solidFill>
                <a:srgbClr val="E4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  <c:majorUnit val="300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16264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60120"/>
            <a:ext cx="100584" cy="4572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4" name="Text 2"/>
          <p:cNvSpPr/>
          <p:nvPr/>
        </p:nvSpPr>
        <p:spPr>
          <a:xfrm>
            <a:off x="1024128" y="960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E0B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NIKKEI 225  ·  MARKET REVIEW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2026年 日経平均株価の推移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主要ニュースで読み解く、年初来の値動き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対象期間：2026年1月5日 〜 5月18日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大発会 (1/5)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797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51,832 円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3593592" y="5596128"/>
            <a:ext cx="0" cy="731520"/>
          </a:xfrm>
          <a:prstGeom prst="line">
            <a:avLst/>
          </a:prstGeom>
          <a:noFill/>
          <a:ln w="12700">
            <a:solidFill>
              <a:srgbClr val="3040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年初来安値 (1/8)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58184" y="5797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51,117 円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528816" y="5596128"/>
            <a:ext cx="0" cy="731520"/>
          </a:xfrm>
          <a:prstGeom prst="line">
            <a:avLst/>
          </a:prstGeom>
          <a:noFill/>
          <a:ln w="12700">
            <a:solidFill>
              <a:srgbClr val="3040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年初来高値 (5/13)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93408" y="5797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63,272 円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464040" y="5596128"/>
            <a:ext cx="0" cy="731520"/>
          </a:xfrm>
          <a:prstGeom prst="line">
            <a:avLst/>
          </a:prstGeom>
          <a:noFill/>
          <a:ln w="12700">
            <a:solidFill>
              <a:srgbClr val="3040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55412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年初来騰落 (5/18)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28632" y="57972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0B84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+ 約21%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29260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ANNUAL TREND &amp; KEY NEWS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4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日経平均株価 2026年の推移と主要ニュース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11274552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A2440">
                <a:alpha val="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566928" y="1426464"/>
          <a:ext cx="11036808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70832"/>
            <a:ext cx="21579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12700" dir="5400000">
              <a:srgbClr val="1A244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370832"/>
            <a:ext cx="2157984" cy="6400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" y="4517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4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1月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91056" y="4526280"/>
            <a:ext cx="896112" cy="365760"/>
          </a:xfrm>
          <a:prstGeom prst="rect">
            <a:avLst>
              <a:gd name="adj" fmla="val 12500"/>
            </a:avLst>
          </a:prstGeom>
          <a:solidFill>
            <a:srgbClr val="4FB2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+2.9%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" y="4937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大発会・衆院解散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3504" y="5285232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1/5 大発会は前年末比 +1,493円で5.1万円台発進。1/23 衆議院の解散を決定。AI・半導体株が相場を下支え。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24912" y="4370832"/>
            <a:ext cx="21579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12700" dir="5400000">
              <a:srgbClr val="1A244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24912" y="4370832"/>
            <a:ext cx="2157984" cy="6400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5" name="Text 12"/>
          <p:cNvSpPr/>
          <p:nvPr/>
        </p:nvSpPr>
        <p:spPr>
          <a:xfrm>
            <a:off x="2871216" y="4517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4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2月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858768" y="4526280"/>
            <a:ext cx="896112" cy="365760"/>
          </a:xfrm>
          <a:prstGeom prst="rect">
            <a:avLst>
              <a:gd name="adj" fmla="val 12500"/>
            </a:avLst>
          </a:prstGeom>
          <a:solidFill>
            <a:srgbClr val="4FB2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+11.8%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871216" y="4937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衆院選 自民圧勝→最高値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871216" y="5285232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2/8 衆院選で自民党が単独2/3超の歴史的大勝→政策期待。2/3 過去最大+3,320円高で史上最高値を更新。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992624" y="4370832"/>
            <a:ext cx="21579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12700" dir="5400000">
              <a:srgbClr val="1A244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92624" y="4370832"/>
            <a:ext cx="2157984" cy="64008"/>
          </a:xfrm>
          <a:prstGeom prst="rect">
            <a:avLst/>
          </a:prstGeom>
          <a:solidFill>
            <a:srgbClr val="E0556B"/>
          </a:solidFill>
          <a:ln/>
        </p:spPr>
      </p:sp>
      <p:sp>
        <p:nvSpPr>
          <p:cNvPr id="21" name="Text 18"/>
          <p:cNvSpPr/>
          <p:nvPr/>
        </p:nvSpPr>
        <p:spPr>
          <a:xfrm>
            <a:off x="5138928" y="4517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4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3月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126480" y="4526280"/>
            <a:ext cx="896112" cy="365760"/>
          </a:xfrm>
          <a:prstGeom prst="rect">
            <a:avLst>
              <a:gd name="adj" fmla="val 12500"/>
            </a:avLst>
          </a:prstGeom>
          <a:solidFill>
            <a:srgbClr val="E055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−10.6%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138928" y="4937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5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中東ショックで急落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138928" y="5285232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2/28 米・イスラエルのイラン攻撃。原油高・供給不安で半導体株が急落、日経平均VIは50超に急騰。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260336" y="4370832"/>
            <a:ext cx="21579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12700" dir="5400000">
              <a:srgbClr val="1A244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260336" y="4370832"/>
            <a:ext cx="2157984" cy="6400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4517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4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4月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394192" y="4526280"/>
            <a:ext cx="896112" cy="365760"/>
          </a:xfrm>
          <a:prstGeom prst="rect">
            <a:avLst>
              <a:gd name="adj" fmla="val 12500"/>
            </a:avLst>
          </a:prstGeom>
          <a:solidFill>
            <a:srgbClr val="4FB2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+11.4%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406640" y="4937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半導体主導でV字回復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406640" y="5285232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半導体・データセンター株が牽引。政府のガソリン補助金が原油高を抑制。4/27 終値で初の6万円超。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528048" y="4370832"/>
            <a:ext cx="21579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63500" dist="12700" dir="5400000">
              <a:srgbClr val="1A2440">
                <a:alpha val="7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528048" y="4370832"/>
            <a:ext cx="2157984" cy="6400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3" name="Text 30"/>
          <p:cNvSpPr/>
          <p:nvPr/>
        </p:nvSpPr>
        <p:spPr>
          <a:xfrm>
            <a:off x="9674352" y="4517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4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5月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661904" y="4526280"/>
            <a:ext cx="896112" cy="365760"/>
          </a:xfrm>
          <a:prstGeom prst="rect">
            <a:avLst>
              <a:gd name="adj" fmla="val 12500"/>
            </a:avLst>
          </a:prstGeom>
          <a:solidFill>
            <a:srgbClr val="4FB2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高値更新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674352" y="4937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米イラン和平期待→反落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9674352" y="5285232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5/7 戦争終結の覚書合意期待でWTI原油−7%。+3,320円高で最高値、5/13に年初来高値6.33万円→反落。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57200" y="64465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Yahoo!ファイナンス / 日本経済新聞 / 野村證券 / 三井住友DSアセット 等の公開情報を基に作成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29260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MONTH-BY-MONTH BREAKDOWN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40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月別の値動きと主因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1051560"/>
                <a:gridCol w="70225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値動き（月初→月末）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騰落率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主な材料・ニュース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244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1月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51,833 → 53,323 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B28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+2.9%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大発会(1/5)は米半導体株高を受け +1,493円で発進。1/23 衆議院解散を決定。AI・半導体需要への期待が相場を下支え。年初来安値 51,117円(1/8)。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244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2月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52,655 → 58,850 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B28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+11.8%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2/8 衆院選で自民党が単独で定数2/3超の歴史的大勝→経済政策期待。2/3 米ISM製造業が1年ぶり50超、AI・半導体メモリ価格急騰で過去最大+3,320円高、史上最高値を更新。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0556B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3月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58,057 → 51,886 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55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−10.6%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2/28 米・イスラエルのイラン攻撃を端緒に『中東ショック』。エネルギー供給不安と輸送リスクで指数寄与の大きいAI・半導体株が急落。日経平均VIは50超(3/4・3/9)。安値 51,515円(3/23)。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244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4月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53,740 → 59,917 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B28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+11.4%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フィラデルフィア半導体指数の上昇に追随し半導体・データセンター株が牽引、半導体価格が急騰。政府のガソリン補助金等が原油高を抑制。4/27 終値で初の6万円超(60,537円)。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2440"/>
                          </a:solidFill>
                          <a:latin typeface="Yu Mincho" pitchFamily="34" charset="0"/>
                          <a:ea typeface="Yu Mincho" pitchFamily="34" charset="-122"/>
                          <a:cs typeface="Yu Mincho" pitchFamily="34" charset="-120"/>
                        </a:rPr>
                        <a:t>5月</a:t>
                      </a:r>
                      <a:endParaRPr lang="en-US" sz="1500" dirty="0">
                        <a:latin typeface="Yu Mincho" charset="0"/>
                        <a:ea typeface="Yu Mincho" charset="0"/>
                        <a:cs typeface="Yu Minch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44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59,513 → 60,816 円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B84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高値更新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5/7 米・イラン戦争終結の覚書合意期待でWTI原油−7%急落、物価不安が後退。過去最大タイ+3,320円高で6.28万円、5/13に年初来高値 63,272円。その後 日銀利上げ観測等で反落。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465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Yahoo!ファイナンス / 日本経済新聞 / 野村證券 / 三井住友DSアセット 等の公開情報を基に作成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292608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B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SUMMARY &amp; OUTLOOK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総括と今後の見通し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743200" cy="1417320"/>
          </a:xfrm>
          <a:prstGeom prst="rect">
            <a:avLst/>
          </a:prstGeom>
          <a:solidFill>
            <a:srgbClr val="16264F"/>
          </a:solidFill>
          <a:ln w="12700">
            <a:solidFill>
              <a:srgbClr val="2A3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743200" cy="54864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1790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年初来騰落 (5/18終値)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B84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+約21%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237744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高値時は +約26%（5/13）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00984" y="1371600"/>
            <a:ext cx="2743200" cy="1417320"/>
          </a:xfrm>
          <a:prstGeom prst="rect">
            <a:avLst/>
          </a:prstGeom>
          <a:solidFill>
            <a:srgbClr val="16264F"/>
          </a:solidFill>
          <a:ln w="12700">
            <a:solidFill>
              <a:srgbClr val="2A3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0984" y="1371600"/>
            <a:ext cx="2743200" cy="54864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465576" y="151790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年初来高値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65576" y="1828800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63,272 円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65576" y="237744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2026/5/13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4768" y="1371600"/>
            <a:ext cx="2743200" cy="1417320"/>
          </a:xfrm>
          <a:prstGeom prst="rect">
            <a:avLst/>
          </a:prstGeom>
          <a:solidFill>
            <a:srgbClr val="16264F"/>
          </a:solidFill>
          <a:ln w="12700">
            <a:solidFill>
              <a:srgbClr val="2A3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1371600"/>
            <a:ext cx="2743200" cy="54864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1790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年初来安値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51,117 円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2026/1/8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88552" y="1371600"/>
            <a:ext cx="2743200" cy="1417320"/>
          </a:xfrm>
          <a:prstGeom prst="rect">
            <a:avLst/>
          </a:prstGeom>
          <a:solidFill>
            <a:srgbClr val="16264F"/>
          </a:solidFill>
          <a:ln w="12700">
            <a:solidFill>
              <a:srgbClr val="2A3A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88552" y="1371600"/>
            <a:ext cx="2743200" cy="54864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2" name="Text 20"/>
          <p:cNvSpPr/>
          <p:nvPr/>
        </p:nvSpPr>
        <p:spPr>
          <a:xfrm>
            <a:off x="9153144" y="151790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値動きレンジ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53144" y="1828800"/>
            <a:ext cx="2414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約 1.2 万円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53144" y="2377440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51千〜63千円で大きく変動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年初来を動かした主因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3611880"/>
            <a:ext cx="68122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AI・半導体需要　</a:t>
            </a:r>
            <a:pPr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メモリ価格急騰とデータセンター投資が指数を牽引（少数の値がさ株が主導）</a:t>
            </a:r>
            <a:endParaRPr lang="en-US" sz="12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衆院選 自民圧勝　</a:t>
            </a:r>
            <a:pPr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2/8の歴史的大勝で経済政策期待が高まり最高値を更新</a:t>
            </a:r>
            <a:endParaRPr lang="en-US" sz="12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中東情勢　</a:t>
            </a:r>
            <a:pPr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イラン攻撃→急落、5月の和平期待→原油急落で急反発と振れ幅拡大</a:t>
            </a:r>
            <a:endParaRPr lang="en-US" sz="125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金融政策　</a:t>
            </a:r>
            <a:pPr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日銀の利上げ観測が5月の高値圏での反落要因に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498080" y="3108960"/>
            <a:ext cx="4233672" cy="2743200"/>
          </a:xfrm>
          <a:prstGeom prst="rect">
            <a:avLst/>
          </a:prstGeom>
          <a:solidFill>
            <a:srgbClr val="16264F"/>
          </a:solidFill>
          <a:ln w="12700">
            <a:solidFill>
              <a:srgbClr val="2A3A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3108960"/>
            <a:ext cx="64008" cy="2743200"/>
          </a:xfrm>
          <a:prstGeom prst="rect">
            <a:avLst/>
          </a:prstGeom>
          <a:solidFill>
            <a:srgbClr val="E0B84C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3273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今後の見通し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26680" y="3749040"/>
            <a:ext cx="38221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野村證券 2026年末予想：日経平均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約61,500〜63,000円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（上方修正、TOPIX 約4,100）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上振れシナリオでは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0B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7万円台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FC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突破の見方も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脱デフレ・好業績が支え。半導体集中と地政学・日銀動向がリスク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Yahoo!ファイナンス / 日本経済新聞 / 野村證券 / 三井住友DSアセット 等の公開情報を基に作成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332720" y="6446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E92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 日経平均株価の推移と主要ニュース</dc:title>
  <dc:subject>PptxGenJS Presentation</dc:subject>
  <dc:creator>Market Review</dc:creator>
  <cp:lastModifiedBy>Market Review</cp:lastModifiedBy>
  <cp:revision>1</cp:revision>
  <dcterms:created xsi:type="dcterms:W3CDTF">2026-05-18T10:50:30Z</dcterms:created>
  <dcterms:modified xsi:type="dcterms:W3CDTF">2026-05-18T10:50:30Z</dcterms:modified>
</cp:coreProperties>
</file>